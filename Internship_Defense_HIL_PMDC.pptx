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aba6ae3-4958-8c00-eb13-e01ff54e9b5e}">
          <p14:sldIdLst>
            <p14:sldId id="256"/>
            <p14:sldId id="257"/>
          </p14:sldIdLst>
        </p14:section>
        <p14:section name="Design" id="{a5876e96-f95d-cae1-a4e8-e8b52fbbfaba}">
          <p14:sldIdLst>
            <p14:sldId id="258"/>
            <p14:sldId id="259"/>
          </p14:sldIdLst>
        </p14:section>
        <p14:section name="Results" id="{dc8ef560-c831-6555-c2a6-cac76c383119}">
          <p14:sldIdLst>
            <p14:sldId id="260"/>
            <p14:sldId id="261"/>
          </p14:sldIdLst>
        </p14:section>
        <p14:section name="Closing" id="{2e744b27-400c-5346-cca9-f98fa0c49f35}">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faculty. I am Harsha Vardhana Ganesh, a third-year ECE student. I will present my summer internship at IIT Palakkad, where I built a real-time Hardware-in-the-Loop simulation platform for a PMDC motor on a Zynq-7000 SoC.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HIL lets us validate controllers against a hardware-hosted plant model instead of risking a real motor. The challenge is bridging high-level modelling tools with low-level FPGA fabric while streaming data at high rates. My objectives covered the whole chain, from the plant model to visualization on the 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splits cleanly between fabric and processor. The motor model and the PWM generator run deterministically in the PL. Telemetry flows through a FIFO and DMA into DDR, and the ARM core streams it over Ethernet to my Python dashboard. The block diagram on this slide is drawn from the architecture described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main contributions are two custom Verilog modules and the software pipeline around them. The wrapper keeps the 100 kHz simulation honest by pausing when the stream stalls, and the PWM module provides a precise 10 kHz drive. On the software side I adapted the lwIP template and wrote the Python client. The interface panel is a sketch I drew from the report's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plots come straight from my live dashboard. At start-up the current spikes to about 0.56 amps and then falls as back-EMF builds, while speed settles near 3 rad/s in about 350 milliseconds. Across four PWM duty cycles the ripple pattern changes as expected, and the table summarises the metrics. The pipeline streamed a million samples without FIFO overflow.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difficulty was keeping a 100 kHz real-time loop deterministic while moving data off-chip. I addressed this with back-pressure-aware stepping in hardware, FIFO buffering, and a lean bare-metal network stack. On the host side, the ripple from the PWM carrier was resolved with an online polynomial filter. Be ready to relate each item to what you personally debugged.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I delivered a reproducible HIL platform spanning modelling, RTL, embedded software and visualization. Next steps include closing the control loop with hardware PID controllers, moving to PetaLinux with UDP for higher throughput, and adding automated regression testing.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3"/>
                </a:solidFill>
              </a:rPr>
              <a:t>Real-Time HIL Simulation of a PMDC Motor  |  IIT Palakkad Internship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Real-Time HIL Simulation of a PMDC Motor  |  IIT Palakkad Internship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658368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INDUSTRIAL / RESEARCH INTERNSHIP  |  SUMMER 2026</a:t>
            </a:r>
            <a:endParaRPr lang="en-US" sz="1400" dirty="0"/>
          </a:p>
        </p:txBody>
      </p:sp>
      <p:sp>
        <p:nvSpPr>
          <p:cNvPr id="3" name="Text 1"/>
          <p:cNvSpPr txBox="1"/>
          <p:nvPr/>
        </p:nvSpPr>
        <p:spPr>
          <a:xfrm>
            <a:off x="640080" y="1051560"/>
            <a:ext cx="6309360" cy="228600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Real-Time Hardware-in-the-Loop Simulation of a PMDC Motor on the Zynq-7000 SoC</a:t>
            </a:r>
            <a:endParaRPr lang="en-US" sz="3600" dirty="0"/>
          </a:p>
        </p:txBody>
      </p:sp>
      <p:sp>
        <p:nvSpPr>
          <p:cNvPr id="4" name="Text 2"/>
          <p:cNvSpPr txBox="1"/>
          <p:nvPr/>
        </p:nvSpPr>
        <p:spPr>
          <a:xfrm>
            <a:off x="640080" y="3611880"/>
            <a:ext cx="6309360" cy="2377440"/>
          </a:xfrm>
          <a:prstGeom prst="rect">
            <a:avLst/>
          </a:prstGeom>
          <a:noFill/>
          <a:ln/>
        </p:spPr>
        <p:txBody>
          <a:bodyPr wrap="square" lIns="0" tIns="0" rIns="0" bIns="0" rtlCol="0" anchor="t"/>
          <a:lstStyle/>
          <a:p>
            <a:pPr indent="0" marL="0">
              <a:spcAft>
                <a:spcPts val="600"/>
              </a:spcAft>
              <a:buNone/>
            </a:pPr>
            <a:r>
              <a:rPr lang="en-US" sz="2000" b="1" dirty="0">
                <a:solidFill>
                  <a:schemeClr val="bg1"/>
                </a:solidFill>
              </a:rPr>
              <a:t>Akasam Harsha Vardhana Ganesh</a:t>
            </a:r>
            <a:endParaRPr lang="en-US" sz="2000" dirty="0"/>
          </a:p>
          <a:p>
            <a:pPr indent="0" marL="0">
              <a:spcAft>
                <a:spcPts val="600"/>
              </a:spcAft>
              <a:buNone/>
            </a:pPr>
            <a:r>
              <a:rPr lang="en-US" sz="1600" dirty="0">
                <a:solidFill>
                  <a:schemeClr val="accent4"/>
                </a:solidFill>
              </a:rPr>
              <a:t>Roll No. 23BFA04013  |  B.Tech ECE (2023 to 2027)</a:t>
            </a:r>
            <a:endParaRPr lang="en-US" sz="2000" dirty="0"/>
          </a:p>
          <a:p>
            <a:pPr indent="0" marL="0">
              <a:spcAft>
                <a:spcPts val="600"/>
              </a:spcAft>
              <a:buNone/>
            </a:pPr>
            <a:r>
              <a:rPr lang="en-US" sz="1600" dirty="0">
                <a:solidFill>
                  <a:schemeClr val="bg1"/>
                </a:solidFill>
              </a:rPr>
              <a:t>Sri Venkateswara College of Engineering (Autonomous), Tirupati</a:t>
            </a:r>
            <a:endParaRPr lang="en-US" sz="2000" dirty="0"/>
          </a:p>
          <a:p>
            <a:pPr indent="0" marL="0">
              <a:spcAft>
                <a:spcPts val="600"/>
              </a:spcAft>
              <a:buNone/>
            </a:pPr>
            <a:r>
              <a:rPr lang="en-US" sz="1600" dirty="0">
                <a:solidFill>
                  <a:schemeClr val="bg1"/>
                </a:solidFill>
              </a:rPr>
              <a:t>Internship: Dept. of Electrical Engineering, IIT Palakkad, Kerala</a:t>
            </a:r>
            <a:endParaRPr lang="en-US" sz="2000" dirty="0"/>
          </a:p>
          <a:p>
            <a:pPr indent="0" marL="0">
              <a:spcAft>
                <a:spcPts val="600"/>
              </a:spcAft>
              <a:buNone/>
            </a:pPr>
            <a:r>
              <a:rPr lang="en-US" sz="1600" dirty="0">
                <a:solidFill>
                  <a:schemeClr val="accent4"/>
                </a:solidFill>
              </a:rPr>
              <a:t>Guide: Dr. KM. Manjunath, Asst. Professor, ECE</a:t>
            </a:r>
            <a:endParaRPr lang="en-US" sz="2000" dirty="0"/>
          </a:p>
        </p:txBody>
      </p:sp>
      <p:sp>
        <p:nvSpPr>
          <p:cNvPr id="5" name="Image frame"/>
          <p:cNvSpPr/>
          <p:nvPr/>
        </p:nvSpPr>
        <p:spPr>
          <a:xfrm>
            <a:off x="7315200" y="822960"/>
            <a:ext cx="4343400" cy="2926080"/>
          </a:xfrm>
          <a:prstGeom prst="roundRect">
            <a:avLst>
              <a:gd name="adj" fmla="val 3750"/>
            </a:avLst>
          </a:prstGeom>
          <a:solidFill>
            <a:schemeClr val="bg1"/>
          </a:solidFill>
          <a:ln w="12700">
            <a:solidFill>
              <a:schemeClr val="bg1"/>
            </a:solidFill>
            <a:prstDash val="solid"/>
          </a:ln>
          <a:effectLst>
            <a:outerShdw sx="100000" sy="100000" kx="0" ky="0" algn="bl" rotWithShape="0" blurRad="101600" dist="25400" dir="5400000">
              <a:srgbClr val="0B1F33">
                <a:alpha val="18000"/>
              </a:srgbClr>
            </a:outerShdw>
          </a:effectLst>
        </p:spPr>
      </p:sp>
      <p:pic>
        <p:nvPicPr>
          <p:cNvPr id="6" name="Dashboard screenshot" descr="Motor diagnostics dashboard showing phase current and velocity">    </p:cNvPr>
          <p:cNvPicPr>
            <a:picLocks noChangeAspect="1"/>
          </p:cNvPicPr>
          <p:nvPr/>
        </p:nvPicPr>
        <p:blipFill>
          <a:blip r:embed="rId1"/>
          <a:stretch>
            <a:fillRect/>
          </a:stretch>
        </p:blipFill>
        <p:spPr>
          <a:xfrm>
            <a:off x="7452360" y="960120"/>
            <a:ext cx="4069080" cy="2187609"/>
          </a:xfrm>
          <a:prstGeom prst="rect">
            <a:avLst/>
          </a:prstGeom>
        </p:spPr>
      </p:pic>
      <p:sp>
        <p:nvSpPr>
          <p:cNvPr id="7" name="Text 4"/>
          <p:cNvSpPr txBox="1"/>
          <p:nvPr/>
        </p:nvSpPr>
        <p:spPr>
          <a:xfrm>
            <a:off x="7315200" y="3977640"/>
            <a:ext cx="4343400" cy="640080"/>
          </a:xfrm>
          <a:prstGeom prst="rect">
            <a:avLst/>
          </a:prstGeom>
          <a:noFill/>
          <a:ln/>
        </p:spPr>
        <p:txBody>
          <a:bodyPr wrap="square" lIns="0" tIns="0" rIns="0" bIns="0" rtlCol="0" anchor="ctr"/>
          <a:lstStyle/>
          <a:p>
            <a:pPr indent="0" marL="0">
              <a:buNone/>
            </a:pPr>
            <a:r>
              <a:rPr lang="en-US" sz="1200" i="1" dirty="0">
                <a:solidFill>
                  <a:schemeClr val="accent4"/>
                </a:solidFill>
              </a:rPr>
              <a:t>Live telemetry dashboard: phase current and motor velocity streamed from the Zybo Z7-20</a:t>
            </a:r>
            <a:endParaRPr lang="en-US" sz="1200" dirty="0"/>
          </a:p>
        </p:txBody>
      </p:sp>
      <p:sp>
        <p:nvSpPr>
          <p:cNvPr id="8" name="PL tile"/>
          <p:cNvSpPr/>
          <p:nvPr/>
        </p:nvSpPr>
        <p:spPr>
          <a:xfrm>
            <a:off x="7315200" y="4892040"/>
            <a:ext cx="2057400" cy="1051560"/>
          </a:xfrm>
          <a:prstGeom prst="roundRect">
            <a:avLst>
              <a:gd name="adj" fmla="val 10435"/>
            </a:avLst>
          </a:prstGeom>
          <a:solidFill>
            <a:schemeClr val="accent1"/>
          </a:solidFill>
          <a:ln w="12700">
            <a:solidFill>
              <a:schemeClr val="accent1"/>
            </a:solidFill>
            <a:prstDash val="solid"/>
          </a:ln>
        </p:spPr>
      </p:sp>
      <p:sp>
        <p:nvSpPr>
          <p:cNvPr id="9" name="Text 6"/>
          <p:cNvSpPr txBox="1"/>
          <p:nvPr/>
        </p:nvSpPr>
        <p:spPr>
          <a:xfrm>
            <a:off x="7315200" y="4892040"/>
            <a:ext cx="2057400" cy="1051560"/>
          </a:xfrm>
          <a:prstGeom prst="rect">
            <a:avLst/>
          </a:prstGeom>
          <a:noFill/>
          <a:ln/>
        </p:spPr>
        <p:txBody>
          <a:bodyPr wrap="square" rtlCol="0" anchor="ctr"/>
          <a:lstStyle/>
          <a:p>
            <a:pPr algn="ctr" indent="0" marL="0">
              <a:buNone/>
            </a:pPr>
            <a:r>
              <a:rPr lang="en-US" sz="2400" b="1" dirty="0">
                <a:solidFill>
                  <a:schemeClr val="bg1"/>
                </a:solidFill>
              </a:rPr>
              <a:t>PL</a:t>
            </a:r>
            <a:endParaRPr lang="en-US" sz="2400" dirty="0"/>
          </a:p>
          <a:p>
            <a:pPr algn="ctr" indent="0" marL="0">
              <a:buNone/>
            </a:pPr>
            <a:r>
              <a:rPr lang="en-US" sz="1400" dirty="0">
                <a:solidFill>
                  <a:schemeClr val="bg1"/>
                </a:solidFill>
              </a:rPr>
              <a:t>100 kHz plant model</a:t>
            </a:r>
            <a:endParaRPr lang="en-US" sz="2400" dirty="0"/>
          </a:p>
        </p:txBody>
      </p:sp>
      <p:sp>
        <p:nvSpPr>
          <p:cNvPr id="10" name="PS tile"/>
          <p:cNvSpPr/>
          <p:nvPr/>
        </p:nvSpPr>
        <p:spPr>
          <a:xfrm>
            <a:off x="9601200" y="4892040"/>
            <a:ext cx="2057400" cy="1051560"/>
          </a:xfrm>
          <a:prstGeom prst="roundRect">
            <a:avLst>
              <a:gd name="adj" fmla="val 10435"/>
            </a:avLst>
          </a:prstGeom>
          <a:solidFill>
            <a:schemeClr val="accent3"/>
          </a:solidFill>
          <a:ln w="12700">
            <a:solidFill>
              <a:schemeClr val="accent3"/>
            </a:solidFill>
            <a:prstDash val="solid"/>
          </a:ln>
        </p:spPr>
      </p:sp>
      <p:sp>
        <p:nvSpPr>
          <p:cNvPr id="11" name="Text 8"/>
          <p:cNvSpPr txBox="1"/>
          <p:nvPr/>
        </p:nvSpPr>
        <p:spPr>
          <a:xfrm>
            <a:off x="9601200" y="4892040"/>
            <a:ext cx="2057400" cy="1051560"/>
          </a:xfrm>
          <a:prstGeom prst="rect">
            <a:avLst/>
          </a:prstGeom>
          <a:noFill/>
          <a:ln/>
        </p:spPr>
        <p:txBody>
          <a:bodyPr wrap="square" rtlCol="0" anchor="ctr"/>
          <a:lstStyle/>
          <a:p>
            <a:pPr algn="ctr" indent="0" marL="0">
              <a:buNone/>
            </a:pPr>
            <a:r>
              <a:rPr lang="en-US" sz="2400" b="1" dirty="0">
                <a:solidFill>
                  <a:schemeClr val="bg1"/>
                </a:solidFill>
              </a:rPr>
              <a:t>PS</a:t>
            </a:r>
            <a:endParaRPr lang="en-US" sz="2400" dirty="0"/>
          </a:p>
          <a:p>
            <a:pPr algn="ctr" indent="0" marL="0">
              <a:buNone/>
            </a:pPr>
            <a:r>
              <a:rPr lang="en-US" sz="1400" dirty="0">
                <a:solidFill>
                  <a:schemeClr val="bg1"/>
                </a:solidFill>
              </a:rPr>
              <a:t>ARM + lwIP TCP</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Introduction &amp; Objectives</a:t>
            </a:r>
            <a:endParaRPr lang="en-US" sz="3600" dirty="0"/>
          </a:p>
        </p:txBody>
      </p:sp>
      <p:sp>
        <p:nvSpPr>
          <p:cNvPr id="3" name="Card Background"/>
          <p:cNvSpPr/>
          <p:nvPr/>
        </p:nvSpPr>
        <p:spPr>
          <a:xfrm>
            <a:off x="548640" y="1325880"/>
            <a:ext cx="3520440" cy="2926080"/>
          </a:xfrm>
          <a:prstGeom prst="roundRect">
            <a:avLst>
              <a:gd name="adj" fmla="val 3750"/>
            </a:avLst>
          </a:prstGeom>
          <a:solidFill>
            <a:schemeClr val="bg2"/>
          </a:solidFill>
          <a:ln w="12700">
            <a:solidFill>
              <a:schemeClr val="bg2"/>
            </a:solidFill>
            <a:prstDash val="solid"/>
          </a:ln>
          <a:effectLst>
            <a:outerShdw sx="100000" sy="100000" kx="0" ky="0" algn="bl" rotWithShape="0" blurRad="101600" dist="25400" dir="5400000">
              <a:srgbClr val="0B1F33">
                <a:alpha val="18000"/>
              </a:srgbClr>
            </a:outerShdw>
          </a:effectLst>
        </p:spPr>
      </p:sp>
      <p:sp>
        <p:nvSpPr>
          <p:cNvPr id="4" name="Icon circle 1"/>
          <p:cNvSpPr/>
          <p:nvPr/>
        </p:nvSpPr>
        <p:spPr>
          <a:xfrm>
            <a:off x="777240" y="1508760"/>
            <a:ext cx="548640" cy="548640"/>
          </a:xfrm>
          <a:prstGeom prst="ellipse">
            <a:avLst/>
          </a:prstGeom>
          <a:solidFill>
            <a:schemeClr val="accent1"/>
          </a:solidFill>
          <a:ln w="12700">
            <a:solidFill>
              <a:schemeClr val="accent1"/>
            </a:solidFill>
            <a:prstDash val="solid"/>
          </a:ln>
        </p:spPr>
      </p:sp>
      <p:pic>
        <p:nvPicPr>
          <p:cNvPr id="5" name="Icon Background" descr="Background">    </p:cNvPr>
          <p:cNvPicPr>
            <a:picLocks noChangeAspect="1"/>
          </p:cNvPicPr>
          <p:nvPr/>
        </p:nvPicPr>
        <p:blipFill>
          <a:blip r:embed="rId1"/>
          <a:stretch>
            <a:fillRect/>
          </a:stretch>
        </p:blipFill>
        <p:spPr>
          <a:xfrm>
            <a:off x="914400" y="1645920"/>
            <a:ext cx="274320" cy="274320"/>
          </a:xfrm>
          <a:prstGeom prst="rect">
            <a:avLst/>
          </a:prstGeom>
        </p:spPr>
      </p:pic>
      <p:sp>
        <p:nvSpPr>
          <p:cNvPr id="6" name="Text 3"/>
          <p:cNvSpPr txBox="1"/>
          <p:nvPr/>
        </p:nvSpPr>
        <p:spPr>
          <a:xfrm>
            <a:off x="1463040" y="1508760"/>
            <a:ext cx="2468880" cy="54864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Background</a:t>
            </a:r>
            <a:endParaRPr lang="en-US" sz="2000" dirty="0"/>
          </a:p>
        </p:txBody>
      </p:sp>
      <p:sp>
        <p:nvSpPr>
          <p:cNvPr id="7" name="Text 4"/>
          <p:cNvSpPr txBox="1"/>
          <p:nvPr/>
        </p:nvSpPr>
        <p:spPr>
          <a:xfrm>
            <a:off x="777240" y="2240280"/>
            <a:ext cx="3108960" cy="21945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HIL is core to power electronics, automotive and aerospace control</a:t>
            </a:r>
            <a:endParaRPr lang="en-US" sz="1400" dirty="0"/>
          </a:p>
          <a:p>
            <a:pPr marL="342900" indent="-342900">
              <a:spcAft>
                <a:spcPts val="500"/>
              </a:spcAft>
              <a:buSzPct val="100000"/>
              <a:buChar char="•"/>
            </a:pPr>
            <a:r>
              <a:rPr lang="en-US" sz="1400" dirty="0">
                <a:solidFill>
                  <a:schemeClr val="tx1"/>
                </a:solidFill>
              </a:rPr>
              <a:t>Testing on live plants risks damage and unsafe failures</a:t>
            </a:r>
            <a:endParaRPr lang="en-US" sz="1400" dirty="0"/>
          </a:p>
          <a:p>
            <a:pPr marL="342900" indent="-342900">
              <a:spcAft>
                <a:spcPts val="500"/>
              </a:spcAft>
              <a:buSzPct val="100000"/>
              <a:buChar char="•"/>
            </a:pPr>
            <a:r>
              <a:rPr lang="en-US" sz="1400" dirty="0">
                <a:solidFill>
                  <a:schemeClr val="tx1"/>
                </a:solidFill>
              </a:rPr>
              <a:t>FPGA/SoC plant models give safe, repeatable validation</a:t>
            </a:r>
            <a:endParaRPr lang="en-US" sz="1400" dirty="0"/>
          </a:p>
        </p:txBody>
      </p:sp>
      <p:sp>
        <p:nvSpPr>
          <p:cNvPr id="8" name="Card Problem Statement"/>
          <p:cNvSpPr/>
          <p:nvPr/>
        </p:nvSpPr>
        <p:spPr>
          <a:xfrm>
            <a:off x="4343400" y="1325880"/>
            <a:ext cx="3520440" cy="2926080"/>
          </a:xfrm>
          <a:prstGeom prst="roundRect">
            <a:avLst>
              <a:gd name="adj" fmla="val 3750"/>
            </a:avLst>
          </a:prstGeom>
          <a:solidFill>
            <a:schemeClr val="bg2"/>
          </a:solidFill>
          <a:ln w="12700">
            <a:solidFill>
              <a:schemeClr val="bg2"/>
            </a:solidFill>
            <a:prstDash val="solid"/>
          </a:ln>
          <a:effectLst>
            <a:outerShdw sx="100000" sy="100000" kx="0" ky="0" algn="bl" rotWithShape="0" blurRad="101600" dist="25400" dir="5400000">
              <a:srgbClr val="0B1F33">
                <a:alpha val="18000"/>
              </a:srgbClr>
            </a:outerShdw>
          </a:effectLst>
        </p:spPr>
      </p:sp>
      <p:sp>
        <p:nvSpPr>
          <p:cNvPr id="9" name="Icon circle 2"/>
          <p:cNvSpPr/>
          <p:nvPr/>
        </p:nvSpPr>
        <p:spPr>
          <a:xfrm>
            <a:off x="4572000" y="1508760"/>
            <a:ext cx="548640" cy="548640"/>
          </a:xfrm>
          <a:prstGeom prst="ellipse">
            <a:avLst/>
          </a:prstGeom>
          <a:solidFill>
            <a:schemeClr val="accent1"/>
          </a:solidFill>
          <a:ln w="12700">
            <a:solidFill>
              <a:schemeClr val="accent1"/>
            </a:solidFill>
            <a:prstDash val="solid"/>
          </a:ln>
        </p:spPr>
      </p:sp>
      <p:pic>
        <p:nvPicPr>
          <p:cNvPr id="10" name="Icon Problem Statement" descr="Problem Statement">    </p:cNvPr>
          <p:cNvPicPr>
            <a:picLocks noChangeAspect="1"/>
          </p:cNvPicPr>
          <p:nvPr/>
        </p:nvPicPr>
        <p:blipFill>
          <a:blip r:embed="rId2"/>
          <a:stretch>
            <a:fillRect/>
          </a:stretch>
        </p:blipFill>
        <p:spPr>
          <a:xfrm>
            <a:off x="4709160" y="1645920"/>
            <a:ext cx="274320" cy="274320"/>
          </a:xfrm>
          <a:prstGeom prst="rect">
            <a:avLst/>
          </a:prstGeom>
        </p:spPr>
      </p:pic>
      <p:sp>
        <p:nvSpPr>
          <p:cNvPr id="11" name="Text 7"/>
          <p:cNvSpPr txBox="1"/>
          <p:nvPr/>
        </p:nvSpPr>
        <p:spPr>
          <a:xfrm>
            <a:off x="5257800" y="1508760"/>
            <a:ext cx="2468880" cy="54864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Problem Statement</a:t>
            </a:r>
            <a:endParaRPr lang="en-US" sz="2000" dirty="0"/>
          </a:p>
        </p:txBody>
      </p:sp>
      <p:sp>
        <p:nvSpPr>
          <p:cNvPr id="12" name="Text 8"/>
          <p:cNvSpPr txBox="1"/>
          <p:nvPr/>
        </p:nvSpPr>
        <p:spPr>
          <a:xfrm>
            <a:off x="4572000" y="2240280"/>
            <a:ext cx="3108960" cy="21945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Bridging Simulink/HDL Coder models to FPGA fabric at 100 kHz</a:t>
            </a:r>
            <a:endParaRPr lang="en-US" sz="1400" dirty="0"/>
          </a:p>
          <a:p>
            <a:pPr marL="342900" indent="-342900">
              <a:spcAft>
                <a:spcPts val="500"/>
              </a:spcAft>
              <a:buSzPct val="100000"/>
              <a:buChar char="•"/>
            </a:pPr>
            <a:r>
              <a:rPr lang="en-US" sz="1400" dirty="0">
                <a:solidFill>
                  <a:schemeClr val="tx1"/>
                </a:solidFill>
              </a:rPr>
              <a:t>Needs precise clocking, RTL wrapping, AXI4-Stream handshakes</a:t>
            </a:r>
            <a:endParaRPr lang="en-US" sz="1400" dirty="0"/>
          </a:p>
          <a:p>
            <a:pPr marL="342900" indent="-342900">
              <a:spcAft>
                <a:spcPts val="500"/>
              </a:spcAft>
              <a:buSzPct val="100000"/>
              <a:buChar char="•"/>
            </a:pPr>
            <a:r>
              <a:rPr lang="en-US" sz="1400" dirty="0">
                <a:solidFill>
                  <a:schemeClr val="tx1"/>
                </a:solidFill>
              </a:rPr>
              <a:t>Telemetry must leave the fabric without software bottlenecks</a:t>
            </a:r>
            <a:endParaRPr lang="en-US" sz="1400" dirty="0"/>
          </a:p>
        </p:txBody>
      </p:sp>
      <p:sp>
        <p:nvSpPr>
          <p:cNvPr id="13" name="Card Objectives"/>
          <p:cNvSpPr/>
          <p:nvPr/>
        </p:nvSpPr>
        <p:spPr>
          <a:xfrm>
            <a:off x="8138160" y="1325880"/>
            <a:ext cx="3520440" cy="2926080"/>
          </a:xfrm>
          <a:prstGeom prst="roundRect">
            <a:avLst>
              <a:gd name="adj" fmla="val 3750"/>
            </a:avLst>
          </a:prstGeom>
          <a:solidFill>
            <a:schemeClr val="bg2"/>
          </a:solidFill>
          <a:ln w="12700">
            <a:solidFill>
              <a:schemeClr val="bg2"/>
            </a:solidFill>
            <a:prstDash val="solid"/>
          </a:ln>
          <a:effectLst>
            <a:outerShdw sx="100000" sy="100000" kx="0" ky="0" algn="bl" rotWithShape="0" blurRad="101600" dist="25400" dir="5400000">
              <a:srgbClr val="0B1F33">
                <a:alpha val="18000"/>
              </a:srgbClr>
            </a:outerShdw>
          </a:effectLst>
        </p:spPr>
      </p:sp>
      <p:sp>
        <p:nvSpPr>
          <p:cNvPr id="14" name="Icon circle 3"/>
          <p:cNvSpPr/>
          <p:nvPr/>
        </p:nvSpPr>
        <p:spPr>
          <a:xfrm>
            <a:off x="8366760" y="1508760"/>
            <a:ext cx="548640" cy="548640"/>
          </a:xfrm>
          <a:prstGeom prst="ellipse">
            <a:avLst/>
          </a:prstGeom>
          <a:solidFill>
            <a:schemeClr val="accent2"/>
          </a:solidFill>
          <a:ln w="12700">
            <a:solidFill>
              <a:schemeClr val="accent2"/>
            </a:solidFill>
            <a:prstDash val="solid"/>
          </a:ln>
        </p:spPr>
      </p:sp>
      <p:pic>
        <p:nvPicPr>
          <p:cNvPr id="15" name="Icon Objectives" descr="Objectives">    </p:cNvPr>
          <p:cNvPicPr>
            <a:picLocks noChangeAspect="1"/>
          </p:cNvPicPr>
          <p:nvPr/>
        </p:nvPicPr>
        <p:blipFill>
          <a:blip r:embed="rId3"/>
          <a:stretch>
            <a:fillRect/>
          </a:stretch>
        </p:blipFill>
        <p:spPr>
          <a:xfrm>
            <a:off x="8503920" y="1645920"/>
            <a:ext cx="274320" cy="274320"/>
          </a:xfrm>
          <a:prstGeom prst="rect">
            <a:avLst/>
          </a:prstGeom>
        </p:spPr>
      </p:pic>
      <p:sp>
        <p:nvSpPr>
          <p:cNvPr id="16" name="Text 11"/>
          <p:cNvSpPr txBox="1"/>
          <p:nvPr/>
        </p:nvSpPr>
        <p:spPr>
          <a:xfrm>
            <a:off x="9052560" y="1508760"/>
            <a:ext cx="2468880" cy="54864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Objectives</a:t>
            </a:r>
            <a:endParaRPr lang="en-US" sz="2000" dirty="0"/>
          </a:p>
        </p:txBody>
      </p:sp>
      <p:sp>
        <p:nvSpPr>
          <p:cNvPr id="17" name="Text 12"/>
          <p:cNvSpPr txBox="1"/>
          <p:nvPr/>
        </p:nvSpPr>
        <p:spPr>
          <a:xfrm>
            <a:off x="8366760" y="2240280"/>
            <a:ext cx="3108960" cy="21945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Run a PMDC model on the Zybo Z7-20 PL at 100 kHz</a:t>
            </a:r>
            <a:endParaRPr lang="en-US" sz="1400" dirty="0"/>
          </a:p>
          <a:p>
            <a:pPr marL="342900" indent="-342900">
              <a:spcAft>
                <a:spcPts val="500"/>
              </a:spcAft>
              <a:buSzPct val="100000"/>
              <a:buChar char="•"/>
            </a:pPr>
            <a:r>
              <a:rPr lang="en-US" sz="1400" dirty="0">
                <a:solidFill>
                  <a:schemeClr val="tx1"/>
                </a:solidFill>
              </a:rPr>
              <a:t>Custom Verilog wrapper and 10 kHz PWM generator</a:t>
            </a:r>
            <a:endParaRPr lang="en-US" sz="1400" dirty="0"/>
          </a:p>
          <a:p>
            <a:pPr marL="342900" indent="-342900">
              <a:spcAft>
                <a:spcPts val="500"/>
              </a:spcAft>
              <a:buSzPct val="100000"/>
              <a:buChar char="•"/>
            </a:pPr>
            <a:r>
              <a:rPr lang="en-US" sz="1400" dirty="0">
                <a:solidFill>
                  <a:schemeClr val="tx1"/>
                </a:solidFill>
              </a:rPr>
              <a:t>FIFO + DMA + lwIP TCP pipeline (Port 7)</a:t>
            </a:r>
            <a:endParaRPr lang="en-US" sz="1400" dirty="0"/>
          </a:p>
          <a:p>
            <a:pPr marL="342900" indent="-342900">
              <a:spcAft>
                <a:spcPts val="500"/>
              </a:spcAft>
              <a:buSzPct val="100000"/>
              <a:buChar char="•"/>
            </a:pPr>
            <a:r>
              <a:rPr lang="en-US" sz="1400" dirty="0">
                <a:solidFill>
                  <a:schemeClr val="tx1"/>
                </a:solidFill>
              </a:rPr>
              <a:t>Python GUI for filtering and plots</a:t>
            </a:r>
            <a:endParaRPr lang="en-US" sz="1400" dirty="0"/>
          </a:p>
        </p:txBody>
      </p:sp>
      <p:sp>
        <p:nvSpPr>
          <p:cNvPr id="18" name="Context 1"/>
          <p:cNvSpPr/>
          <p:nvPr/>
        </p:nvSpPr>
        <p:spPr>
          <a:xfrm>
            <a:off x="548640" y="4617720"/>
            <a:ext cx="3108960" cy="1005840"/>
          </a:xfrm>
          <a:prstGeom prst="roundRect">
            <a:avLst>
              <a:gd name="adj" fmla="val 10909"/>
            </a:avLst>
          </a:prstGeom>
          <a:solidFill>
            <a:schemeClr val="accent3"/>
          </a:solidFill>
          <a:ln w="12700">
            <a:solidFill>
              <a:schemeClr val="accent3"/>
            </a:solidFill>
            <a:prstDash val="solid"/>
          </a:ln>
        </p:spPr>
      </p:sp>
      <p:sp>
        <p:nvSpPr>
          <p:cNvPr id="19" name="Text 14"/>
          <p:cNvSpPr txBox="1"/>
          <p:nvPr/>
        </p:nvSpPr>
        <p:spPr>
          <a:xfrm>
            <a:off x="548640" y="4617720"/>
            <a:ext cx="3108960" cy="1005840"/>
          </a:xfrm>
          <a:prstGeom prst="rect">
            <a:avLst/>
          </a:prstGeom>
          <a:noFill/>
          <a:ln/>
        </p:spPr>
        <p:txBody>
          <a:bodyPr wrap="square" rtlCol="0" anchor="ctr"/>
          <a:lstStyle/>
          <a:p>
            <a:pPr algn="ctr" indent="0" marL="0">
              <a:buNone/>
            </a:pPr>
            <a:r>
              <a:rPr lang="en-US" sz="1600" b="1" dirty="0">
                <a:solidFill>
                  <a:schemeClr val="bg1"/>
                </a:solidFill>
              </a:rPr>
              <a:t>Physical controller</a:t>
            </a:r>
            <a:endParaRPr lang="en-US" sz="1600" dirty="0"/>
          </a:p>
        </p:txBody>
      </p:sp>
      <p:sp>
        <p:nvSpPr>
          <p:cNvPr id="20" name="Context 2"/>
          <p:cNvSpPr/>
          <p:nvPr/>
        </p:nvSpPr>
        <p:spPr>
          <a:xfrm>
            <a:off x="4526280" y="4617720"/>
            <a:ext cx="3154680" cy="1005840"/>
          </a:xfrm>
          <a:prstGeom prst="roundRect">
            <a:avLst>
              <a:gd name="adj" fmla="val 10909"/>
            </a:avLst>
          </a:prstGeom>
          <a:solidFill>
            <a:schemeClr val="accent1"/>
          </a:solidFill>
          <a:ln w="12700">
            <a:solidFill>
              <a:schemeClr val="accent1"/>
            </a:solidFill>
            <a:prstDash val="solid"/>
          </a:ln>
        </p:spPr>
      </p:sp>
      <p:sp>
        <p:nvSpPr>
          <p:cNvPr id="21" name="Text 16"/>
          <p:cNvSpPr txBox="1"/>
          <p:nvPr/>
        </p:nvSpPr>
        <p:spPr>
          <a:xfrm>
            <a:off x="4526280" y="4617720"/>
            <a:ext cx="3154680" cy="1005840"/>
          </a:xfrm>
          <a:prstGeom prst="rect">
            <a:avLst/>
          </a:prstGeom>
          <a:noFill/>
          <a:ln/>
        </p:spPr>
        <p:txBody>
          <a:bodyPr wrap="square" rtlCol="0" anchor="ctr"/>
          <a:lstStyle/>
          <a:p>
            <a:pPr algn="ctr" indent="0" marL="0">
              <a:buNone/>
            </a:pPr>
            <a:r>
              <a:rPr lang="en-US" sz="1600" b="1" dirty="0">
                <a:solidFill>
                  <a:schemeClr val="bg1"/>
                </a:solidFill>
              </a:rPr>
              <a:t>HIL platform: FPGA plant model</a:t>
            </a:r>
            <a:endParaRPr lang="en-US" sz="1600" dirty="0"/>
          </a:p>
        </p:txBody>
      </p:sp>
      <p:sp>
        <p:nvSpPr>
          <p:cNvPr id="22" name="Context 3"/>
          <p:cNvSpPr/>
          <p:nvPr/>
        </p:nvSpPr>
        <p:spPr>
          <a:xfrm>
            <a:off x="8549640" y="4617720"/>
            <a:ext cx="3108960" cy="1005840"/>
          </a:xfrm>
          <a:prstGeom prst="roundRect">
            <a:avLst>
              <a:gd name="adj" fmla="val 10909"/>
            </a:avLst>
          </a:prstGeom>
          <a:solidFill>
            <a:schemeClr val="accent5"/>
          </a:solidFill>
          <a:ln w="12700">
            <a:solidFill>
              <a:schemeClr val="accent5"/>
            </a:solidFill>
            <a:prstDash val="solid"/>
          </a:ln>
        </p:spPr>
      </p:sp>
      <p:sp>
        <p:nvSpPr>
          <p:cNvPr id="23" name="Text 18"/>
          <p:cNvSpPr txBox="1"/>
          <p:nvPr/>
        </p:nvSpPr>
        <p:spPr>
          <a:xfrm>
            <a:off x="8549640" y="4617720"/>
            <a:ext cx="3108960" cy="1005840"/>
          </a:xfrm>
          <a:prstGeom prst="rect">
            <a:avLst/>
          </a:prstGeom>
          <a:noFill/>
          <a:ln/>
        </p:spPr>
        <p:txBody>
          <a:bodyPr wrap="square" rtlCol="0" anchor="ctr"/>
          <a:lstStyle/>
          <a:p>
            <a:pPr algn="ctr" indent="0" marL="0">
              <a:buNone/>
            </a:pPr>
            <a:r>
              <a:rPr lang="en-US" sz="1600" b="1" dirty="0">
                <a:solidFill>
                  <a:schemeClr val="bg1"/>
                </a:solidFill>
              </a:rPr>
              <a:t>Safe, repeatable testing</a:t>
            </a:r>
            <a:endParaRPr lang="en-US" sz="1600" dirty="0"/>
          </a:p>
        </p:txBody>
      </p:sp>
      <p:sp>
        <p:nvSpPr>
          <p:cNvPr id="24" name="Text 19"/>
          <p:cNvSpPr txBox="1"/>
          <p:nvPr/>
        </p:nvSpPr>
        <p:spPr>
          <a:xfrm>
            <a:off x="3657600" y="4617720"/>
            <a:ext cx="868680" cy="1005840"/>
          </a:xfrm>
          <a:prstGeom prst="rect">
            <a:avLst/>
          </a:prstGeom>
          <a:noFill/>
          <a:ln/>
        </p:spPr>
        <p:txBody>
          <a:bodyPr wrap="square" lIns="0" tIns="0" rIns="0" bIns="0" rtlCol="0" anchor="ctr"/>
          <a:lstStyle/>
          <a:p>
            <a:pPr algn="ctr" indent="0" marL="0">
              <a:buNone/>
            </a:pPr>
            <a:r>
              <a:rPr lang="en-US" sz="3200" b="1" dirty="0">
                <a:solidFill>
                  <a:schemeClr val="accent3"/>
                </a:solidFill>
              </a:rPr>
              <a:t>↔</a:t>
            </a:r>
            <a:endParaRPr lang="en-US" sz="3200" dirty="0"/>
          </a:p>
        </p:txBody>
      </p:sp>
      <p:sp>
        <p:nvSpPr>
          <p:cNvPr id="25" name="Text 20"/>
          <p:cNvSpPr txBox="1"/>
          <p:nvPr/>
        </p:nvSpPr>
        <p:spPr>
          <a:xfrm>
            <a:off x="7680960" y="4617720"/>
            <a:ext cx="868680" cy="1005840"/>
          </a:xfrm>
          <a:prstGeom prst="rect">
            <a:avLst/>
          </a:prstGeom>
          <a:noFill/>
          <a:ln/>
        </p:spPr>
        <p:txBody>
          <a:bodyPr wrap="square" lIns="0" tIns="0" rIns="0" bIns="0" rtlCol="0" anchor="ctr"/>
          <a:lstStyle/>
          <a:p>
            <a:pPr algn="ctr" indent="0" marL="0">
              <a:buNone/>
            </a:pPr>
            <a:r>
              <a:rPr lang="en-US" sz="3200" b="1" dirty="0">
                <a:solidFill>
                  <a:schemeClr val="accent3"/>
                </a:solidFill>
              </a:rPr>
              <a:t>↔</a:t>
            </a: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System Architecture &amp; Methodology</a:t>
            </a:r>
            <a:endParaRPr lang="en-US" sz="3600" dirty="0"/>
          </a:p>
        </p:txBody>
      </p:sp>
      <p:sp>
        <p:nvSpPr>
          <p:cNvPr id="3" name="Lane PL"/>
          <p:cNvSpPr/>
          <p:nvPr/>
        </p:nvSpPr>
        <p:spPr>
          <a:xfrm>
            <a:off x="548640" y="1188720"/>
            <a:ext cx="11064240" cy="1463040"/>
          </a:xfrm>
          <a:prstGeom prst="roundRect">
            <a:avLst>
              <a:gd name="adj" fmla="val 7500"/>
            </a:avLst>
          </a:prstGeom>
          <a:solidFill>
            <a:schemeClr val="bg2"/>
          </a:solidFill>
          <a:ln w="12700">
            <a:solidFill>
              <a:schemeClr val="bg2"/>
            </a:solidFill>
            <a:prstDash val="solid"/>
          </a:ln>
        </p:spPr>
      </p:sp>
      <p:sp>
        <p:nvSpPr>
          <p:cNvPr id="4" name="Text 2"/>
          <p:cNvSpPr txBox="1"/>
          <p:nvPr/>
        </p:nvSpPr>
        <p:spPr>
          <a:xfrm>
            <a:off x="731520" y="1261872"/>
            <a:ext cx="5486400" cy="274320"/>
          </a:xfrm>
          <a:prstGeom prst="rect">
            <a:avLst/>
          </a:prstGeom>
          <a:noFill/>
          <a:ln/>
        </p:spPr>
        <p:txBody>
          <a:bodyPr wrap="square" lIns="0" tIns="0" rIns="0" bIns="0" rtlCol="0" anchor="ctr"/>
          <a:lstStyle/>
          <a:p>
            <a:pPr indent="0" marL="0">
              <a:buNone/>
            </a:pPr>
            <a:r>
              <a:rPr lang="en-US" sz="1200" b="1" dirty="0">
                <a:solidFill>
                  <a:schemeClr val="accent3"/>
                </a:solidFill>
              </a:rPr>
              <a:t>PROGRAMMABLE LOGIC (PL)</a:t>
            </a:r>
            <a:endParaRPr lang="en-US" sz="1200" dirty="0"/>
          </a:p>
        </p:txBody>
      </p:sp>
      <p:sp>
        <p:nvSpPr>
          <p:cNvPr id="5" name="Lane PS"/>
          <p:cNvSpPr/>
          <p:nvPr/>
        </p:nvSpPr>
        <p:spPr>
          <a:xfrm>
            <a:off x="548640" y="2788920"/>
            <a:ext cx="11064240" cy="1371600"/>
          </a:xfrm>
          <a:prstGeom prst="roundRect">
            <a:avLst>
              <a:gd name="adj" fmla="val 8000"/>
            </a:avLst>
          </a:prstGeom>
          <a:solidFill>
            <a:schemeClr val="bg2"/>
          </a:solidFill>
          <a:ln w="12700">
            <a:solidFill>
              <a:schemeClr val="bg2"/>
            </a:solidFill>
            <a:prstDash val="solid"/>
          </a:ln>
        </p:spPr>
      </p:sp>
      <p:sp>
        <p:nvSpPr>
          <p:cNvPr id="6" name="Text 4"/>
          <p:cNvSpPr txBox="1"/>
          <p:nvPr/>
        </p:nvSpPr>
        <p:spPr>
          <a:xfrm>
            <a:off x="731520" y="2862072"/>
            <a:ext cx="5486400" cy="274320"/>
          </a:xfrm>
          <a:prstGeom prst="rect">
            <a:avLst/>
          </a:prstGeom>
          <a:noFill/>
          <a:ln/>
        </p:spPr>
        <p:txBody>
          <a:bodyPr wrap="square" lIns="0" tIns="0" rIns="0" bIns="0" rtlCol="0" anchor="ctr"/>
          <a:lstStyle/>
          <a:p>
            <a:pPr indent="0" marL="0">
              <a:buNone/>
            </a:pPr>
            <a:r>
              <a:rPr lang="en-US" sz="1200" b="1" dirty="0">
                <a:solidFill>
                  <a:schemeClr val="accent3"/>
                </a:solidFill>
              </a:rPr>
              <a:t>PROCESSING SYSTEM (PS): ARM CORTEX-A9, BARE-METAL</a:t>
            </a:r>
            <a:endParaRPr lang="en-US" sz="1200" dirty="0"/>
          </a:p>
        </p:txBody>
      </p:sp>
      <p:sp>
        <p:nvSpPr>
          <p:cNvPr id="7" name="Lane Host"/>
          <p:cNvSpPr/>
          <p:nvPr/>
        </p:nvSpPr>
        <p:spPr>
          <a:xfrm>
            <a:off x="548640" y="4297680"/>
            <a:ext cx="11064240" cy="1371600"/>
          </a:xfrm>
          <a:prstGeom prst="roundRect">
            <a:avLst>
              <a:gd name="adj" fmla="val 8000"/>
            </a:avLst>
          </a:prstGeom>
          <a:solidFill>
            <a:schemeClr val="bg2"/>
          </a:solidFill>
          <a:ln w="12700">
            <a:solidFill>
              <a:schemeClr val="bg2"/>
            </a:solidFill>
            <a:prstDash val="solid"/>
          </a:ln>
        </p:spPr>
      </p:sp>
      <p:sp>
        <p:nvSpPr>
          <p:cNvPr id="8" name="Text 6"/>
          <p:cNvSpPr txBox="1"/>
          <p:nvPr/>
        </p:nvSpPr>
        <p:spPr>
          <a:xfrm>
            <a:off x="731520" y="4370832"/>
            <a:ext cx="5486400" cy="274320"/>
          </a:xfrm>
          <a:prstGeom prst="rect">
            <a:avLst/>
          </a:prstGeom>
          <a:noFill/>
          <a:ln/>
        </p:spPr>
        <p:txBody>
          <a:bodyPr wrap="square" lIns="0" tIns="0" rIns="0" bIns="0" rtlCol="0" anchor="ctr"/>
          <a:lstStyle/>
          <a:p>
            <a:pPr indent="0" marL="0">
              <a:buNone/>
            </a:pPr>
            <a:r>
              <a:rPr lang="en-US" sz="1200" b="1" dirty="0">
                <a:solidFill>
                  <a:schemeClr val="accent3"/>
                </a:solidFill>
              </a:rPr>
              <a:t>HOST PC</a:t>
            </a:r>
            <a:endParaRPr lang="en-US" sz="1200" dirty="0"/>
          </a:p>
        </p:txBody>
      </p:sp>
      <p:sp>
        <p:nvSpPr>
          <p:cNvPr id="9" name="PWM box"/>
          <p:cNvSpPr/>
          <p:nvPr/>
        </p:nvSpPr>
        <p:spPr>
          <a:xfrm>
            <a:off x="777240" y="1554480"/>
            <a:ext cx="1920240" cy="914400"/>
          </a:xfrm>
          <a:prstGeom prst="roundRect">
            <a:avLst>
              <a:gd name="adj" fmla="val 12000"/>
            </a:avLst>
          </a:prstGeom>
          <a:solidFill>
            <a:schemeClr val="accent2"/>
          </a:solidFill>
          <a:ln w="12700">
            <a:solidFill>
              <a:schemeClr val="accent2"/>
            </a:solidFill>
            <a:prstDash val="solid"/>
          </a:ln>
          <a:effectLst>
            <a:outerShdw sx="100000" sy="100000" kx="0" ky="0" algn="bl" rotWithShape="0" blurRad="101600" dist="25400" dir="5400000">
              <a:srgbClr val="0B1F33">
                <a:alpha val="18000"/>
              </a:srgbClr>
            </a:outerShdw>
          </a:effectLst>
        </p:spPr>
      </p:sp>
      <p:sp>
        <p:nvSpPr>
          <p:cNvPr id="10" name="Text 8"/>
          <p:cNvSpPr txBox="1"/>
          <p:nvPr/>
        </p:nvSpPr>
        <p:spPr>
          <a:xfrm>
            <a:off x="777240" y="1554480"/>
            <a:ext cx="1920240" cy="914400"/>
          </a:xfrm>
          <a:prstGeom prst="rect">
            <a:avLst/>
          </a:prstGeom>
          <a:noFill/>
          <a:ln/>
        </p:spPr>
        <p:txBody>
          <a:bodyPr wrap="square" lIns="635" tIns="635" rIns="635" bIns="635" rtlCol="0" anchor="ctr"/>
          <a:lstStyle/>
          <a:p>
            <a:pPr algn="ctr" indent="0" marL="0">
              <a:buNone/>
            </a:pPr>
            <a:r>
              <a:rPr lang="en-US" sz="1400" b="1" dirty="0">
                <a:solidFill>
                  <a:schemeClr val="bg1"/>
                </a:solidFill>
              </a:rPr>
              <a:t>pwm_gen.v</a:t>
            </a:r>
            <a:endParaRPr lang="en-US" sz="1400" dirty="0"/>
          </a:p>
          <a:p>
            <a:pPr algn="ctr" indent="0" marL="0">
              <a:buNone/>
            </a:pPr>
            <a:r>
              <a:rPr lang="en-US" sz="1200" dirty="0">
                <a:solidFill>
                  <a:schemeClr val="bg1"/>
                </a:solidFill>
              </a:rPr>
              <a:t>10 kHz PWM, 13-bit</a:t>
            </a:r>
            <a:endParaRPr lang="en-US" sz="1400" dirty="0"/>
          </a:p>
        </p:txBody>
      </p:sp>
      <p:sp>
        <p:nvSpPr>
          <p:cNvPr id="11" name="Model box"/>
          <p:cNvSpPr/>
          <p:nvPr/>
        </p:nvSpPr>
        <p:spPr>
          <a:xfrm>
            <a:off x="2971800" y="1554480"/>
            <a:ext cx="1920240" cy="914400"/>
          </a:xfrm>
          <a:prstGeom prst="roundRect">
            <a:avLst>
              <a:gd name="adj" fmla="val 12000"/>
            </a:avLst>
          </a:prstGeom>
          <a:solidFill>
            <a:schemeClr val="accent1"/>
          </a:solidFill>
          <a:ln w="12700">
            <a:solidFill>
              <a:schemeClr val="accent1"/>
            </a:solidFill>
            <a:prstDash val="solid"/>
          </a:ln>
          <a:effectLst>
            <a:outerShdw sx="100000" sy="100000" kx="0" ky="0" algn="bl" rotWithShape="0" blurRad="101600" dist="25400" dir="5400000">
              <a:srgbClr val="0B1F33">
                <a:alpha val="18000"/>
              </a:srgbClr>
            </a:outerShdw>
          </a:effectLst>
        </p:spPr>
      </p:sp>
      <p:sp>
        <p:nvSpPr>
          <p:cNvPr id="12" name="Text 10"/>
          <p:cNvSpPr txBox="1"/>
          <p:nvPr/>
        </p:nvSpPr>
        <p:spPr>
          <a:xfrm>
            <a:off x="2971800" y="1554480"/>
            <a:ext cx="1920240" cy="914400"/>
          </a:xfrm>
          <a:prstGeom prst="rect">
            <a:avLst/>
          </a:prstGeom>
          <a:noFill/>
          <a:ln/>
        </p:spPr>
        <p:txBody>
          <a:bodyPr wrap="square" lIns="635" tIns="635" rIns="635" bIns="635" rtlCol="0" anchor="ctr"/>
          <a:lstStyle/>
          <a:p>
            <a:pPr algn="ctr" indent="0" marL="0">
              <a:buNone/>
            </a:pPr>
            <a:r>
              <a:rPr lang="en-US" sz="1400" b="1" dirty="0">
                <a:solidFill>
                  <a:schemeClr val="bg1"/>
                </a:solidFill>
              </a:rPr>
              <a:t>PMDC model</a:t>
            </a:r>
            <a:endParaRPr lang="en-US" sz="1400" dirty="0"/>
          </a:p>
          <a:p>
            <a:pPr algn="ctr" indent="0" marL="0">
              <a:buNone/>
            </a:pPr>
            <a:r>
              <a:rPr lang="en-US" sz="1200" dirty="0">
                <a:solidFill>
                  <a:schemeClr val="bg1"/>
                </a:solidFill>
              </a:rPr>
              <a:t>HDL Coder RTL, 100 kHz</a:t>
            </a:r>
            <a:endParaRPr lang="en-US" sz="1400" dirty="0"/>
          </a:p>
        </p:txBody>
      </p:sp>
      <p:sp>
        <p:nvSpPr>
          <p:cNvPr id="13" name="Wrapper box"/>
          <p:cNvSpPr/>
          <p:nvPr/>
        </p:nvSpPr>
        <p:spPr>
          <a:xfrm>
            <a:off x="5166360" y="1554480"/>
            <a:ext cx="1920240" cy="914400"/>
          </a:xfrm>
          <a:prstGeom prst="roundRect">
            <a:avLst>
              <a:gd name="adj" fmla="val 12000"/>
            </a:avLst>
          </a:prstGeom>
          <a:solidFill>
            <a:schemeClr val="accent1"/>
          </a:solidFill>
          <a:ln w="12700">
            <a:solidFill>
              <a:schemeClr val="accent1"/>
            </a:solidFill>
            <a:prstDash val="solid"/>
          </a:ln>
          <a:effectLst>
            <a:outerShdw sx="100000" sy="100000" kx="0" ky="0" algn="bl" rotWithShape="0" blurRad="101600" dist="25400" dir="5400000">
              <a:srgbClr val="0B1F33">
                <a:alpha val="18000"/>
              </a:srgbClr>
            </a:outerShdw>
          </a:effectLst>
        </p:spPr>
      </p:sp>
      <p:sp>
        <p:nvSpPr>
          <p:cNvPr id="14" name="Text 12"/>
          <p:cNvSpPr txBox="1"/>
          <p:nvPr/>
        </p:nvSpPr>
        <p:spPr>
          <a:xfrm>
            <a:off x="5166360" y="1554480"/>
            <a:ext cx="1920240" cy="914400"/>
          </a:xfrm>
          <a:prstGeom prst="rect">
            <a:avLst/>
          </a:prstGeom>
          <a:noFill/>
          <a:ln/>
        </p:spPr>
        <p:txBody>
          <a:bodyPr wrap="square" lIns="635" tIns="635" rIns="635" bIns="635" rtlCol="0" anchor="ctr"/>
          <a:lstStyle/>
          <a:p>
            <a:pPr algn="ctr" indent="0" marL="0">
              <a:buNone/>
            </a:pPr>
            <a:r>
              <a:rPr lang="en-US" sz="1400" b="1" dirty="0">
                <a:solidFill>
                  <a:schemeClr val="bg1"/>
                </a:solidFill>
              </a:rPr>
              <a:t>pmdc_axis_wrapper.v</a:t>
            </a:r>
            <a:endParaRPr lang="en-US" sz="1400" dirty="0"/>
          </a:p>
          <a:p>
            <a:pPr algn="ctr" indent="0" marL="0">
              <a:buNone/>
            </a:pPr>
            <a:r>
              <a:rPr lang="en-US" sz="1200" dirty="0">
                <a:solidFill>
                  <a:schemeClr val="bg1"/>
                </a:solidFill>
              </a:rPr>
              <a:t>clock-step + back-pressure</a:t>
            </a:r>
            <a:endParaRPr lang="en-US" sz="1400" dirty="0"/>
          </a:p>
        </p:txBody>
      </p:sp>
      <p:sp>
        <p:nvSpPr>
          <p:cNvPr id="15" name="FIFO box"/>
          <p:cNvSpPr/>
          <p:nvPr/>
        </p:nvSpPr>
        <p:spPr>
          <a:xfrm>
            <a:off x="7360920" y="1554480"/>
            <a:ext cx="1920240" cy="914400"/>
          </a:xfrm>
          <a:prstGeom prst="roundRect">
            <a:avLst>
              <a:gd name="adj" fmla="val 12000"/>
            </a:avLst>
          </a:prstGeom>
          <a:solidFill>
            <a:schemeClr val="accent1"/>
          </a:solidFill>
          <a:ln w="12700">
            <a:solidFill>
              <a:schemeClr val="accent1"/>
            </a:solidFill>
            <a:prstDash val="solid"/>
          </a:ln>
          <a:effectLst>
            <a:outerShdw sx="100000" sy="100000" kx="0" ky="0" algn="bl" rotWithShape="0" blurRad="101600" dist="25400" dir="5400000">
              <a:srgbClr val="0B1F33">
                <a:alpha val="18000"/>
              </a:srgbClr>
            </a:outerShdw>
          </a:effectLst>
        </p:spPr>
      </p:sp>
      <p:sp>
        <p:nvSpPr>
          <p:cNvPr id="16" name="Text 14"/>
          <p:cNvSpPr txBox="1"/>
          <p:nvPr/>
        </p:nvSpPr>
        <p:spPr>
          <a:xfrm>
            <a:off x="7360920" y="1554480"/>
            <a:ext cx="1920240" cy="914400"/>
          </a:xfrm>
          <a:prstGeom prst="rect">
            <a:avLst/>
          </a:prstGeom>
          <a:noFill/>
          <a:ln/>
        </p:spPr>
        <p:txBody>
          <a:bodyPr wrap="square" lIns="635" tIns="635" rIns="635" bIns="635" rtlCol="0" anchor="ctr"/>
          <a:lstStyle/>
          <a:p>
            <a:pPr algn="ctr" indent="0" marL="0">
              <a:buNone/>
            </a:pPr>
            <a:r>
              <a:rPr lang="en-US" sz="1400" b="1" dirty="0">
                <a:solidFill>
                  <a:schemeClr val="bg1"/>
                </a:solidFill>
              </a:rPr>
              <a:t>AXIS Data FIFO</a:t>
            </a:r>
            <a:endParaRPr lang="en-US" sz="1400" dirty="0"/>
          </a:p>
          <a:p>
            <a:pPr algn="ctr" indent="0" marL="0">
              <a:buNone/>
            </a:pPr>
            <a:r>
              <a:rPr lang="en-US" sz="1200" dirty="0">
                <a:solidFill>
                  <a:schemeClr val="bg1"/>
                </a:solidFill>
              </a:rPr>
              <a:t>depth 1024</a:t>
            </a:r>
            <a:endParaRPr lang="en-US" sz="1400" dirty="0"/>
          </a:p>
        </p:txBody>
      </p:sp>
      <p:sp>
        <p:nvSpPr>
          <p:cNvPr id="17" name="DMA box"/>
          <p:cNvSpPr/>
          <p:nvPr/>
        </p:nvSpPr>
        <p:spPr>
          <a:xfrm>
            <a:off x="9555480" y="1554480"/>
            <a:ext cx="1920240" cy="914400"/>
          </a:xfrm>
          <a:prstGeom prst="roundRect">
            <a:avLst>
              <a:gd name="adj" fmla="val 12000"/>
            </a:avLst>
          </a:prstGeom>
          <a:solidFill>
            <a:schemeClr val="accent1"/>
          </a:solidFill>
          <a:ln w="12700">
            <a:solidFill>
              <a:schemeClr val="accent1"/>
            </a:solidFill>
            <a:prstDash val="solid"/>
          </a:ln>
          <a:effectLst>
            <a:outerShdw sx="100000" sy="100000" kx="0" ky="0" algn="bl" rotWithShape="0" blurRad="101600" dist="25400" dir="5400000">
              <a:srgbClr val="0B1F33">
                <a:alpha val="18000"/>
              </a:srgbClr>
            </a:outerShdw>
          </a:effectLst>
        </p:spPr>
      </p:sp>
      <p:sp>
        <p:nvSpPr>
          <p:cNvPr id="18" name="Text 16"/>
          <p:cNvSpPr txBox="1"/>
          <p:nvPr/>
        </p:nvSpPr>
        <p:spPr>
          <a:xfrm>
            <a:off x="9555480" y="1554480"/>
            <a:ext cx="1920240" cy="914400"/>
          </a:xfrm>
          <a:prstGeom prst="rect">
            <a:avLst/>
          </a:prstGeom>
          <a:noFill/>
          <a:ln/>
        </p:spPr>
        <p:txBody>
          <a:bodyPr wrap="square" lIns="635" tIns="635" rIns="635" bIns="635" rtlCol="0" anchor="ctr"/>
          <a:lstStyle/>
          <a:p>
            <a:pPr algn="ctr" indent="0" marL="0">
              <a:buNone/>
            </a:pPr>
            <a:r>
              <a:rPr lang="en-US" sz="1400" b="1" dirty="0">
                <a:solidFill>
                  <a:schemeClr val="bg1"/>
                </a:solidFill>
              </a:rPr>
              <a:t>AXI DMA</a:t>
            </a:r>
            <a:endParaRPr lang="en-US" sz="1400" dirty="0"/>
          </a:p>
          <a:p>
            <a:pPr algn="ctr" indent="0" marL="0">
              <a:buNone/>
            </a:pPr>
            <a:r>
              <a:rPr lang="en-US" sz="1200" dirty="0">
                <a:solidFill>
                  <a:schemeClr val="bg1"/>
                </a:solidFill>
              </a:rPr>
              <a:t>scatter-gather off</a:t>
            </a:r>
            <a:endParaRPr lang="en-US" sz="1400" dirty="0"/>
          </a:p>
        </p:txBody>
      </p:sp>
      <p:sp>
        <p:nvSpPr>
          <p:cNvPr id="19" name="PL arrow 1"/>
          <p:cNvSpPr/>
          <p:nvPr/>
        </p:nvSpPr>
        <p:spPr>
          <a:xfrm>
            <a:off x="2697480" y="2011680"/>
            <a:ext cx="274320" cy="0"/>
          </a:xfrm>
          <a:prstGeom prst="line">
            <a:avLst/>
          </a:prstGeom>
          <a:noFill/>
          <a:ln w="25400">
            <a:solidFill>
              <a:schemeClr val="accent3"/>
            </a:solidFill>
            <a:prstDash val="solid"/>
            <a:tailEnd type="triangle"/>
          </a:ln>
        </p:spPr>
      </p:sp>
      <p:sp>
        <p:nvSpPr>
          <p:cNvPr id="20" name="PL arrow 2"/>
          <p:cNvSpPr/>
          <p:nvPr/>
        </p:nvSpPr>
        <p:spPr>
          <a:xfrm>
            <a:off x="4892040" y="2011680"/>
            <a:ext cx="274320" cy="0"/>
          </a:xfrm>
          <a:prstGeom prst="line">
            <a:avLst/>
          </a:prstGeom>
          <a:noFill/>
          <a:ln w="25400">
            <a:solidFill>
              <a:schemeClr val="accent3"/>
            </a:solidFill>
            <a:prstDash val="solid"/>
            <a:tailEnd type="triangle"/>
          </a:ln>
        </p:spPr>
      </p:sp>
      <p:sp>
        <p:nvSpPr>
          <p:cNvPr id="21" name="PL arrow 3"/>
          <p:cNvSpPr/>
          <p:nvPr/>
        </p:nvSpPr>
        <p:spPr>
          <a:xfrm>
            <a:off x="7086600" y="2011680"/>
            <a:ext cx="274320" cy="0"/>
          </a:xfrm>
          <a:prstGeom prst="line">
            <a:avLst/>
          </a:prstGeom>
          <a:noFill/>
          <a:ln w="25400">
            <a:solidFill>
              <a:schemeClr val="accent3"/>
            </a:solidFill>
            <a:prstDash val="solid"/>
            <a:tailEnd type="triangle"/>
          </a:ln>
        </p:spPr>
      </p:sp>
      <p:sp>
        <p:nvSpPr>
          <p:cNvPr id="22" name="PL arrow 4"/>
          <p:cNvSpPr/>
          <p:nvPr/>
        </p:nvSpPr>
        <p:spPr>
          <a:xfrm>
            <a:off x="9281160" y="2011680"/>
            <a:ext cx="274320" cy="0"/>
          </a:xfrm>
          <a:prstGeom prst="line">
            <a:avLst/>
          </a:prstGeom>
          <a:noFill/>
          <a:ln w="25400">
            <a:solidFill>
              <a:schemeClr val="accent3"/>
            </a:solidFill>
            <a:prstDash val="solid"/>
            <a:tailEnd type="triangle"/>
          </a:ln>
        </p:spPr>
      </p:sp>
      <p:sp>
        <p:nvSpPr>
          <p:cNvPr id="23" name="HP box"/>
          <p:cNvSpPr/>
          <p:nvPr/>
        </p:nvSpPr>
        <p:spPr>
          <a:xfrm>
            <a:off x="9555480" y="3154680"/>
            <a:ext cx="1920240" cy="914400"/>
          </a:xfrm>
          <a:prstGeom prst="roundRect">
            <a:avLst>
              <a:gd name="adj" fmla="val 12000"/>
            </a:avLst>
          </a:prstGeom>
          <a:solidFill>
            <a:schemeClr val="accent3"/>
          </a:solidFill>
          <a:ln w="12700">
            <a:solidFill>
              <a:schemeClr val="accent3"/>
            </a:solidFill>
            <a:prstDash val="solid"/>
          </a:ln>
          <a:effectLst>
            <a:outerShdw sx="100000" sy="100000" kx="0" ky="0" algn="bl" rotWithShape="0" blurRad="101600" dist="25400" dir="5400000">
              <a:srgbClr val="0B1F33">
                <a:alpha val="18000"/>
              </a:srgbClr>
            </a:outerShdw>
          </a:effectLst>
        </p:spPr>
      </p:sp>
      <p:sp>
        <p:nvSpPr>
          <p:cNvPr id="24" name="Text 22"/>
          <p:cNvSpPr txBox="1"/>
          <p:nvPr/>
        </p:nvSpPr>
        <p:spPr>
          <a:xfrm>
            <a:off x="9555480" y="3154680"/>
            <a:ext cx="1920240" cy="914400"/>
          </a:xfrm>
          <a:prstGeom prst="rect">
            <a:avLst/>
          </a:prstGeom>
          <a:noFill/>
          <a:ln/>
        </p:spPr>
        <p:txBody>
          <a:bodyPr wrap="square" lIns="635" tIns="635" rIns="635" bIns="635" rtlCol="0" anchor="ctr"/>
          <a:lstStyle/>
          <a:p>
            <a:pPr algn="ctr" indent="0" marL="0">
              <a:buNone/>
            </a:pPr>
            <a:r>
              <a:rPr lang="en-US" sz="1400" b="1" dirty="0">
                <a:solidFill>
                  <a:schemeClr val="bg1"/>
                </a:solidFill>
              </a:rPr>
              <a:t>HP slave port</a:t>
            </a:r>
            <a:endParaRPr lang="en-US" sz="1400" dirty="0"/>
          </a:p>
          <a:p>
            <a:pPr algn="ctr" indent="0" marL="0">
              <a:buNone/>
            </a:pPr>
            <a:r>
              <a:rPr lang="en-US" sz="1200" dirty="0">
                <a:solidFill>
                  <a:schemeClr val="bg1"/>
                </a:solidFill>
              </a:rPr>
              <a:t>PS-PL AXI interface</a:t>
            </a:r>
            <a:endParaRPr lang="en-US" sz="1400" dirty="0"/>
          </a:p>
        </p:txBody>
      </p:sp>
      <p:sp>
        <p:nvSpPr>
          <p:cNvPr id="25" name="DDR box"/>
          <p:cNvSpPr/>
          <p:nvPr/>
        </p:nvSpPr>
        <p:spPr>
          <a:xfrm>
            <a:off x="7360920" y="3154680"/>
            <a:ext cx="1920240" cy="914400"/>
          </a:xfrm>
          <a:prstGeom prst="roundRect">
            <a:avLst>
              <a:gd name="adj" fmla="val 12000"/>
            </a:avLst>
          </a:prstGeom>
          <a:solidFill>
            <a:schemeClr val="accent3"/>
          </a:solidFill>
          <a:ln w="12700">
            <a:solidFill>
              <a:schemeClr val="accent3"/>
            </a:solidFill>
            <a:prstDash val="solid"/>
          </a:ln>
          <a:effectLst>
            <a:outerShdw sx="100000" sy="100000" kx="0" ky="0" algn="bl" rotWithShape="0" blurRad="101600" dist="25400" dir="5400000">
              <a:srgbClr val="0B1F33">
                <a:alpha val="18000"/>
              </a:srgbClr>
            </a:outerShdw>
          </a:effectLst>
        </p:spPr>
      </p:sp>
      <p:sp>
        <p:nvSpPr>
          <p:cNvPr id="26" name="Text 24"/>
          <p:cNvSpPr txBox="1"/>
          <p:nvPr/>
        </p:nvSpPr>
        <p:spPr>
          <a:xfrm>
            <a:off x="7360920" y="3154680"/>
            <a:ext cx="1920240" cy="914400"/>
          </a:xfrm>
          <a:prstGeom prst="rect">
            <a:avLst/>
          </a:prstGeom>
          <a:noFill/>
          <a:ln/>
        </p:spPr>
        <p:txBody>
          <a:bodyPr wrap="square" lIns="635" tIns="635" rIns="635" bIns="635" rtlCol="0" anchor="ctr"/>
          <a:lstStyle/>
          <a:p>
            <a:pPr algn="ctr" indent="0" marL="0">
              <a:buNone/>
            </a:pPr>
            <a:r>
              <a:rPr lang="en-US" sz="1400" b="1" dirty="0">
                <a:solidFill>
                  <a:schemeClr val="bg1"/>
                </a:solidFill>
              </a:rPr>
              <a:t>DDR memory</a:t>
            </a:r>
            <a:endParaRPr lang="en-US" sz="1400" dirty="0"/>
          </a:p>
          <a:p>
            <a:pPr algn="ctr" indent="0" marL="0">
              <a:buNone/>
            </a:pPr>
            <a:r>
              <a:rPr lang="en-US" sz="1200" dirty="0">
                <a:solidFill>
                  <a:schemeClr val="bg1"/>
                </a:solidFill>
              </a:rPr>
              <a:t>non-cached ring buffers</a:t>
            </a:r>
            <a:endParaRPr lang="en-US" sz="1400" dirty="0"/>
          </a:p>
        </p:txBody>
      </p:sp>
      <p:sp>
        <p:nvSpPr>
          <p:cNvPr id="27" name="lwIP box"/>
          <p:cNvSpPr/>
          <p:nvPr/>
        </p:nvSpPr>
        <p:spPr>
          <a:xfrm>
            <a:off x="2971800" y="3154680"/>
            <a:ext cx="4114800" cy="914400"/>
          </a:xfrm>
          <a:prstGeom prst="roundRect">
            <a:avLst>
              <a:gd name="adj" fmla="val 12000"/>
            </a:avLst>
          </a:prstGeom>
          <a:solidFill>
            <a:schemeClr val="accent3"/>
          </a:solidFill>
          <a:ln w="12700">
            <a:solidFill>
              <a:schemeClr val="accent3"/>
            </a:solidFill>
            <a:prstDash val="solid"/>
          </a:ln>
          <a:effectLst>
            <a:outerShdw sx="100000" sy="100000" kx="0" ky="0" algn="bl" rotWithShape="0" blurRad="101600" dist="25400" dir="5400000">
              <a:srgbClr val="0B1F33">
                <a:alpha val="18000"/>
              </a:srgbClr>
            </a:outerShdw>
          </a:effectLst>
        </p:spPr>
      </p:sp>
      <p:sp>
        <p:nvSpPr>
          <p:cNvPr id="28" name="Text 26"/>
          <p:cNvSpPr txBox="1"/>
          <p:nvPr/>
        </p:nvSpPr>
        <p:spPr>
          <a:xfrm>
            <a:off x="2971800" y="3154680"/>
            <a:ext cx="4114800" cy="914400"/>
          </a:xfrm>
          <a:prstGeom prst="rect">
            <a:avLst/>
          </a:prstGeom>
          <a:noFill/>
          <a:ln/>
        </p:spPr>
        <p:txBody>
          <a:bodyPr wrap="square" lIns="635" tIns="635" rIns="635" bIns="635" rtlCol="0" anchor="ctr"/>
          <a:lstStyle/>
          <a:p>
            <a:pPr algn="ctr" indent="0" marL="0">
              <a:buNone/>
            </a:pPr>
            <a:r>
              <a:rPr lang="en-US" sz="1400" b="1" dirty="0">
                <a:solidFill>
                  <a:schemeClr val="bg1"/>
                </a:solidFill>
              </a:rPr>
              <a:t>lwIP TCP server</a:t>
            </a:r>
            <a:endParaRPr lang="en-US" sz="1400" dirty="0"/>
          </a:p>
          <a:p>
            <a:pPr algn="ctr" indent="0" marL="0">
              <a:buNone/>
            </a:pPr>
            <a:r>
              <a:rPr lang="en-US" sz="1200" dirty="0">
                <a:solidFill>
                  <a:schemeClr val="bg1"/>
                </a:solidFill>
              </a:rPr>
              <a:t>customized echo template, Port 7</a:t>
            </a:r>
            <a:endParaRPr lang="en-US" sz="1400" dirty="0"/>
          </a:p>
        </p:txBody>
      </p:sp>
      <p:sp>
        <p:nvSpPr>
          <p:cNvPr id="29" name="DMA to HP"/>
          <p:cNvSpPr/>
          <p:nvPr/>
        </p:nvSpPr>
        <p:spPr>
          <a:xfrm>
            <a:off x="10515600" y="2468880"/>
            <a:ext cx="0" cy="685800"/>
          </a:xfrm>
          <a:prstGeom prst="line">
            <a:avLst/>
          </a:prstGeom>
          <a:noFill/>
          <a:ln w="25400">
            <a:solidFill>
              <a:schemeClr val="accent3"/>
            </a:solidFill>
            <a:prstDash val="solid"/>
            <a:tailEnd type="triangle"/>
          </a:ln>
        </p:spPr>
      </p:sp>
      <p:sp>
        <p:nvSpPr>
          <p:cNvPr id="30" name="HP to DDR"/>
          <p:cNvSpPr/>
          <p:nvPr/>
        </p:nvSpPr>
        <p:spPr>
          <a:xfrm flipH="1">
            <a:off x="9281160" y="3611880"/>
            <a:ext cx="274320" cy="0"/>
          </a:xfrm>
          <a:prstGeom prst="line">
            <a:avLst/>
          </a:prstGeom>
          <a:noFill/>
          <a:ln w="25400">
            <a:solidFill>
              <a:schemeClr val="accent3"/>
            </a:solidFill>
            <a:prstDash val="solid"/>
            <a:tailEnd type="triangle"/>
          </a:ln>
        </p:spPr>
      </p:sp>
      <p:sp>
        <p:nvSpPr>
          <p:cNvPr id="31" name="DDR to lwIP"/>
          <p:cNvSpPr/>
          <p:nvPr/>
        </p:nvSpPr>
        <p:spPr>
          <a:xfrm flipH="1">
            <a:off x="7086600" y="3611880"/>
            <a:ext cx="274320" cy="0"/>
          </a:xfrm>
          <a:prstGeom prst="line">
            <a:avLst/>
          </a:prstGeom>
          <a:noFill/>
          <a:ln w="25400">
            <a:solidFill>
              <a:schemeClr val="accent3"/>
            </a:solidFill>
            <a:prstDash val="solid"/>
            <a:tailEnd type="triangle"/>
          </a:ln>
        </p:spPr>
      </p:sp>
      <p:sp>
        <p:nvSpPr>
          <p:cNvPr id="32" name="Ethernet box"/>
          <p:cNvSpPr/>
          <p:nvPr/>
        </p:nvSpPr>
        <p:spPr>
          <a:xfrm>
            <a:off x="2971800" y="4663440"/>
            <a:ext cx="4114800" cy="822960"/>
          </a:xfrm>
          <a:prstGeom prst="roundRect">
            <a:avLst>
              <a:gd name="adj" fmla="val 13333"/>
            </a:avLst>
          </a:prstGeom>
          <a:solidFill>
            <a:schemeClr val="accent5"/>
          </a:solidFill>
          <a:ln w="12700">
            <a:solidFill>
              <a:schemeClr val="accent5"/>
            </a:solidFill>
            <a:prstDash val="solid"/>
          </a:ln>
          <a:effectLst>
            <a:outerShdw sx="100000" sy="100000" kx="0" ky="0" algn="bl" rotWithShape="0" blurRad="101600" dist="25400" dir="5400000">
              <a:srgbClr val="0B1F33">
                <a:alpha val="18000"/>
              </a:srgbClr>
            </a:outerShdw>
          </a:effectLst>
        </p:spPr>
      </p:sp>
      <p:sp>
        <p:nvSpPr>
          <p:cNvPr id="33" name="Text 31"/>
          <p:cNvSpPr txBox="1"/>
          <p:nvPr/>
        </p:nvSpPr>
        <p:spPr>
          <a:xfrm>
            <a:off x="2971800" y="4663440"/>
            <a:ext cx="4114800" cy="822960"/>
          </a:xfrm>
          <a:prstGeom prst="rect">
            <a:avLst/>
          </a:prstGeom>
          <a:noFill/>
          <a:ln/>
        </p:spPr>
        <p:txBody>
          <a:bodyPr wrap="square" lIns="635" tIns="635" rIns="635" bIns="635" rtlCol="0" anchor="ctr"/>
          <a:lstStyle/>
          <a:p>
            <a:pPr algn="ctr" indent="0" marL="0">
              <a:buNone/>
            </a:pPr>
            <a:r>
              <a:rPr lang="en-US" sz="1400" b="1" dirty="0">
                <a:solidFill>
                  <a:schemeClr val="bg1"/>
                </a:solidFill>
              </a:rPr>
              <a:t>Ethernet link (TCP)</a:t>
            </a:r>
            <a:endParaRPr lang="en-US" sz="1400" dirty="0"/>
          </a:p>
          <a:p>
            <a:pPr algn="ctr" indent="0" marL="0">
              <a:buNone/>
            </a:pPr>
            <a:r>
              <a:rPr lang="en-US" sz="1200" dirty="0">
                <a:solidFill>
                  <a:schemeClr val="bg1"/>
                </a:solidFill>
              </a:rPr>
              <a:t>raw 16-bit telemetry frames</a:t>
            </a:r>
            <a:endParaRPr lang="en-US" sz="1400" dirty="0"/>
          </a:p>
        </p:txBody>
      </p:sp>
      <p:sp>
        <p:nvSpPr>
          <p:cNvPr id="34" name="GUI box"/>
          <p:cNvSpPr/>
          <p:nvPr/>
        </p:nvSpPr>
        <p:spPr>
          <a:xfrm>
            <a:off x="7360920" y="4663440"/>
            <a:ext cx="4114800" cy="822960"/>
          </a:xfrm>
          <a:prstGeom prst="roundRect">
            <a:avLst>
              <a:gd name="adj" fmla="val 13333"/>
            </a:avLst>
          </a:prstGeom>
          <a:solidFill>
            <a:schemeClr val="accent5"/>
          </a:solidFill>
          <a:ln w="12700">
            <a:solidFill>
              <a:schemeClr val="accent5"/>
            </a:solidFill>
            <a:prstDash val="solid"/>
          </a:ln>
          <a:effectLst>
            <a:outerShdw sx="100000" sy="100000" kx="0" ky="0" algn="bl" rotWithShape="0" blurRad="101600" dist="25400" dir="5400000">
              <a:srgbClr val="0B1F33">
                <a:alpha val="18000"/>
              </a:srgbClr>
            </a:outerShdw>
          </a:effectLst>
        </p:spPr>
      </p:sp>
      <p:sp>
        <p:nvSpPr>
          <p:cNvPr id="35" name="Text 33"/>
          <p:cNvSpPr txBox="1"/>
          <p:nvPr/>
        </p:nvSpPr>
        <p:spPr>
          <a:xfrm>
            <a:off x="7360920" y="4663440"/>
            <a:ext cx="4114800" cy="822960"/>
          </a:xfrm>
          <a:prstGeom prst="rect">
            <a:avLst/>
          </a:prstGeom>
          <a:noFill/>
          <a:ln/>
        </p:spPr>
        <p:txBody>
          <a:bodyPr wrap="square" lIns="635" tIns="635" rIns="635" bIns="635" rtlCol="0" anchor="ctr"/>
          <a:lstStyle/>
          <a:p>
            <a:pPr algn="ctr" indent="0" marL="0">
              <a:buNone/>
            </a:pPr>
            <a:r>
              <a:rPr lang="en-US" sz="1400" b="1" dirty="0">
                <a:solidFill>
                  <a:schemeClr val="bg1"/>
                </a:solidFill>
              </a:rPr>
              <a:t>Python GUI (gui.py)</a:t>
            </a:r>
            <a:endParaRPr lang="en-US" sz="1400" dirty="0"/>
          </a:p>
          <a:p>
            <a:pPr algn="ctr" indent="0" marL="0">
              <a:buNone/>
            </a:pPr>
            <a:r>
              <a:rPr lang="en-US" sz="1200" dirty="0">
                <a:solidFill>
                  <a:schemeClr val="bg1"/>
                </a:solidFill>
              </a:rPr>
              <a:t>tkinter, scipy.signal, Savitzky-Golay</a:t>
            </a:r>
            <a:endParaRPr lang="en-US" sz="1400" dirty="0"/>
          </a:p>
        </p:txBody>
      </p:sp>
      <p:sp>
        <p:nvSpPr>
          <p:cNvPr id="36" name="lwIP to Ethernet"/>
          <p:cNvSpPr/>
          <p:nvPr/>
        </p:nvSpPr>
        <p:spPr>
          <a:xfrm>
            <a:off x="5989320" y="4069080"/>
            <a:ext cx="0" cy="594360"/>
          </a:xfrm>
          <a:prstGeom prst="line">
            <a:avLst/>
          </a:prstGeom>
          <a:noFill/>
          <a:ln w="25400">
            <a:solidFill>
              <a:schemeClr val="accent3"/>
            </a:solidFill>
            <a:prstDash val="solid"/>
            <a:tailEnd type="triangle"/>
          </a:ln>
        </p:spPr>
      </p:sp>
      <p:sp>
        <p:nvSpPr>
          <p:cNvPr id="37" name="Ethernet to GUI"/>
          <p:cNvSpPr/>
          <p:nvPr/>
        </p:nvSpPr>
        <p:spPr>
          <a:xfrm>
            <a:off x="7086600" y="5074920"/>
            <a:ext cx="274320" cy="0"/>
          </a:xfrm>
          <a:prstGeom prst="line">
            <a:avLst/>
          </a:prstGeom>
          <a:noFill/>
          <a:ln w="25400">
            <a:solidFill>
              <a:schemeClr val="accent3"/>
            </a:solidFill>
            <a:prstDash val="solid"/>
            <a:tailEnd type="triangle"/>
          </a:ln>
        </p:spPr>
      </p:sp>
      <p:sp>
        <p:nvSpPr>
          <p:cNvPr id="38" name="Text 36"/>
          <p:cNvSpPr txBox="1"/>
          <p:nvPr/>
        </p:nvSpPr>
        <p:spPr>
          <a:xfrm>
            <a:off x="548640" y="5852160"/>
            <a:ext cx="11064240" cy="365760"/>
          </a:xfrm>
          <a:prstGeom prst="rect">
            <a:avLst/>
          </a:prstGeom>
          <a:noFill/>
          <a:ln/>
        </p:spPr>
        <p:txBody>
          <a:bodyPr wrap="square" lIns="0" tIns="0" rIns="0" bIns="0" rtlCol="0" anchor="ctr"/>
          <a:lstStyle/>
          <a:p>
            <a:pPr indent="0" marL="0">
              <a:buNone/>
            </a:pPr>
            <a:r>
              <a:rPr lang="en-US" sz="1400" b="1" dirty="0">
                <a:solidFill>
                  <a:schemeClr val="tx1"/>
                </a:solidFill>
              </a:rPr>
              <a:t>Tools:  </a:t>
            </a:r>
            <a:pPr indent="0" marL="0">
              <a:buNone/>
            </a:pPr>
            <a:r>
              <a:rPr lang="en-US" sz="1400" dirty="0">
                <a:solidFill>
                  <a:schemeClr val="tx1"/>
                </a:solidFill>
              </a:rPr>
              <a:t>MATLAB/Simulink  •  HDL Coder  •  Vivado IP Integrator  •  Vitis  •  Python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Core Modules &amp; Implementation</a:t>
            </a:r>
            <a:endParaRPr lang="en-US" sz="3600" dirty="0"/>
          </a:p>
        </p:txBody>
      </p:sp>
      <p:sp>
        <p:nvSpPr>
          <p:cNvPr id="3" name="Module card 1"/>
          <p:cNvSpPr/>
          <p:nvPr/>
        </p:nvSpPr>
        <p:spPr>
          <a:xfrm>
            <a:off x="548640" y="1280160"/>
            <a:ext cx="324612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101600" dist="25400" dir="5400000">
              <a:srgbClr val="0B1F33">
                <a:alpha val="18000"/>
              </a:srgbClr>
            </a:outerShdw>
          </a:effectLst>
        </p:spPr>
      </p:sp>
      <p:sp>
        <p:nvSpPr>
          <p:cNvPr id="4" name="Module icon circle 1"/>
          <p:cNvSpPr/>
          <p:nvPr/>
        </p:nvSpPr>
        <p:spPr>
          <a:xfrm>
            <a:off x="731520" y="1463040"/>
            <a:ext cx="457200" cy="457200"/>
          </a:xfrm>
          <a:prstGeom prst="ellipse">
            <a:avLst/>
          </a:prstGeom>
          <a:solidFill>
            <a:schemeClr val="accent1"/>
          </a:solidFill>
          <a:ln w="12700">
            <a:solidFill>
              <a:schemeClr val="accent1"/>
            </a:solidFill>
            <a:prstDash val="solid"/>
          </a:ln>
        </p:spPr>
      </p:sp>
      <p:pic>
        <p:nvPicPr>
          <p:cNvPr id="5" name="Module icon 1" descr="pmdc_axis_wrapper.v">    </p:cNvPr>
          <p:cNvPicPr>
            <a:picLocks noChangeAspect="1"/>
          </p:cNvPicPr>
          <p:nvPr/>
        </p:nvPicPr>
        <p:blipFill>
          <a:blip r:embed="rId1"/>
          <a:stretch>
            <a:fillRect/>
          </a:stretch>
        </p:blipFill>
        <p:spPr>
          <a:xfrm>
            <a:off x="850392" y="1581912"/>
            <a:ext cx="219456" cy="219456"/>
          </a:xfrm>
          <a:prstGeom prst="rect">
            <a:avLst/>
          </a:prstGeom>
        </p:spPr>
      </p:pic>
      <p:sp>
        <p:nvSpPr>
          <p:cNvPr id="6" name="Text 3"/>
          <p:cNvSpPr txBox="1"/>
          <p:nvPr/>
        </p:nvSpPr>
        <p:spPr>
          <a:xfrm>
            <a:off x="1280160" y="1463040"/>
            <a:ext cx="2423160" cy="457200"/>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pmdc_axis_wrapper.v</a:t>
            </a:r>
            <a:endParaRPr lang="en-US" sz="1400" dirty="0"/>
          </a:p>
        </p:txBody>
      </p:sp>
      <p:sp>
        <p:nvSpPr>
          <p:cNvPr id="7" name="Text 4"/>
          <p:cNvSpPr txBox="1"/>
          <p:nvPr/>
        </p:nvSpPr>
        <p:spPr>
          <a:xfrm>
            <a:off x="731520" y="2057400"/>
            <a:ext cx="2880360" cy="13716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Gates clock-stepping on downstream readiness and stall</a:t>
            </a:r>
            <a:endParaRPr lang="en-US" sz="1400" dirty="0"/>
          </a:p>
          <a:p>
            <a:pPr marL="342900" indent="-342900">
              <a:spcAft>
                <a:spcPts val="500"/>
              </a:spcAft>
              <a:buSzPct val="100000"/>
              <a:buChar char="•"/>
            </a:pPr>
            <a:r>
              <a:rPr lang="en-US" sz="1400" dirty="0">
                <a:solidFill>
                  <a:schemeClr val="tx1"/>
                </a:solidFill>
              </a:rPr>
              <a:t>Packs 16-bit ia and ω into one 32-bit word</a:t>
            </a:r>
            <a:endParaRPr lang="en-US" sz="1400" dirty="0"/>
          </a:p>
        </p:txBody>
      </p:sp>
      <p:sp>
        <p:nvSpPr>
          <p:cNvPr id="8" name="Module card 2"/>
          <p:cNvSpPr/>
          <p:nvPr/>
        </p:nvSpPr>
        <p:spPr>
          <a:xfrm>
            <a:off x="3977640" y="1280160"/>
            <a:ext cx="324612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101600" dist="25400" dir="5400000">
              <a:srgbClr val="0B1F33">
                <a:alpha val="18000"/>
              </a:srgbClr>
            </a:outerShdw>
          </a:effectLst>
        </p:spPr>
      </p:sp>
      <p:sp>
        <p:nvSpPr>
          <p:cNvPr id="9" name="Module icon circle 2"/>
          <p:cNvSpPr/>
          <p:nvPr/>
        </p:nvSpPr>
        <p:spPr>
          <a:xfrm>
            <a:off x="4160520" y="1463040"/>
            <a:ext cx="457200" cy="457200"/>
          </a:xfrm>
          <a:prstGeom prst="ellipse">
            <a:avLst/>
          </a:prstGeom>
          <a:solidFill>
            <a:schemeClr val="accent1"/>
          </a:solidFill>
          <a:ln w="12700">
            <a:solidFill>
              <a:schemeClr val="accent1"/>
            </a:solidFill>
            <a:prstDash val="solid"/>
          </a:ln>
        </p:spPr>
      </p:sp>
      <p:pic>
        <p:nvPicPr>
          <p:cNvPr id="10" name="Module icon 2" descr="pwm_gen.v">    </p:cNvPr>
          <p:cNvPicPr>
            <a:picLocks noChangeAspect="1"/>
          </p:cNvPicPr>
          <p:nvPr/>
        </p:nvPicPr>
        <p:blipFill>
          <a:blip r:embed="rId2"/>
          <a:stretch>
            <a:fillRect/>
          </a:stretch>
        </p:blipFill>
        <p:spPr>
          <a:xfrm>
            <a:off x="4279392" y="1581912"/>
            <a:ext cx="219456" cy="219456"/>
          </a:xfrm>
          <a:prstGeom prst="rect">
            <a:avLst/>
          </a:prstGeom>
        </p:spPr>
      </p:pic>
      <p:sp>
        <p:nvSpPr>
          <p:cNvPr id="11" name="Text 7"/>
          <p:cNvSpPr txBox="1"/>
          <p:nvPr/>
        </p:nvSpPr>
        <p:spPr>
          <a:xfrm>
            <a:off x="4709160" y="1463040"/>
            <a:ext cx="2423160" cy="457200"/>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pwm_gen.v</a:t>
            </a:r>
            <a:endParaRPr lang="en-US" sz="1400" dirty="0"/>
          </a:p>
        </p:txBody>
      </p:sp>
      <p:sp>
        <p:nvSpPr>
          <p:cNvPr id="12" name="Text 8"/>
          <p:cNvSpPr txBox="1"/>
          <p:nvPr/>
        </p:nvSpPr>
        <p:spPr>
          <a:xfrm>
            <a:off x="4160520" y="2057400"/>
            <a:ext cx="2880360" cy="13716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13-bit resolution on a 50 MHz clock</a:t>
            </a:r>
            <a:endParaRPr lang="en-US" sz="1400" dirty="0"/>
          </a:p>
          <a:p>
            <a:pPr marL="342900" indent="-342900">
              <a:spcAft>
                <a:spcPts val="500"/>
              </a:spcAft>
              <a:buSzPct val="100000"/>
              <a:buChar char="•"/>
            </a:pPr>
            <a:r>
              <a:rPr lang="en-US" sz="1400" dirty="0">
                <a:solidFill>
                  <a:schemeClr val="tx1"/>
                </a:solidFill>
              </a:rPr>
              <a:t>Period match gives a precise 10 kHz gate</a:t>
            </a:r>
            <a:endParaRPr lang="en-US" sz="1400" dirty="0"/>
          </a:p>
        </p:txBody>
      </p:sp>
      <p:sp>
        <p:nvSpPr>
          <p:cNvPr id="13" name="Module card 3"/>
          <p:cNvSpPr/>
          <p:nvPr/>
        </p:nvSpPr>
        <p:spPr>
          <a:xfrm>
            <a:off x="548640" y="3703320"/>
            <a:ext cx="324612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101600" dist="25400" dir="5400000">
              <a:srgbClr val="0B1F33">
                <a:alpha val="18000"/>
              </a:srgbClr>
            </a:outerShdw>
          </a:effectLst>
        </p:spPr>
      </p:sp>
      <p:sp>
        <p:nvSpPr>
          <p:cNvPr id="14" name="Module icon circle 3"/>
          <p:cNvSpPr/>
          <p:nvPr/>
        </p:nvSpPr>
        <p:spPr>
          <a:xfrm>
            <a:off x="731520" y="3886200"/>
            <a:ext cx="457200" cy="457200"/>
          </a:xfrm>
          <a:prstGeom prst="ellipse">
            <a:avLst/>
          </a:prstGeom>
          <a:solidFill>
            <a:schemeClr val="accent1"/>
          </a:solidFill>
          <a:ln w="12700">
            <a:solidFill>
              <a:schemeClr val="accent1"/>
            </a:solidFill>
            <a:prstDash val="solid"/>
          </a:ln>
        </p:spPr>
      </p:sp>
      <p:pic>
        <p:nvPicPr>
          <p:cNvPr id="15" name="Module icon 3" descr="Vivado + Vitis pipeline">    </p:cNvPr>
          <p:cNvPicPr>
            <a:picLocks noChangeAspect="1"/>
          </p:cNvPicPr>
          <p:nvPr/>
        </p:nvPicPr>
        <p:blipFill>
          <a:blip r:embed="rId3"/>
          <a:stretch>
            <a:fillRect/>
          </a:stretch>
        </p:blipFill>
        <p:spPr>
          <a:xfrm>
            <a:off x="850392" y="4005072"/>
            <a:ext cx="219456" cy="219456"/>
          </a:xfrm>
          <a:prstGeom prst="rect">
            <a:avLst/>
          </a:prstGeom>
        </p:spPr>
      </p:pic>
      <p:sp>
        <p:nvSpPr>
          <p:cNvPr id="16" name="Text 11"/>
          <p:cNvSpPr txBox="1"/>
          <p:nvPr/>
        </p:nvSpPr>
        <p:spPr>
          <a:xfrm>
            <a:off x="1280160" y="3886200"/>
            <a:ext cx="242316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Vivado + Vitis pipeline</a:t>
            </a:r>
            <a:endParaRPr lang="en-US" sz="1600" dirty="0"/>
          </a:p>
        </p:txBody>
      </p:sp>
      <p:sp>
        <p:nvSpPr>
          <p:cNvPr id="17" name="Text 12"/>
          <p:cNvSpPr txBox="1"/>
          <p:nvPr/>
        </p:nvSpPr>
        <p:spPr>
          <a:xfrm>
            <a:off x="731520" y="4480560"/>
            <a:ext cx="2880360" cy="13716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FIFO (1024) to AXI DMA to PS HP port</a:t>
            </a:r>
            <a:endParaRPr lang="en-US" sz="1400" dirty="0"/>
          </a:p>
          <a:p>
            <a:pPr marL="342900" indent="-342900">
              <a:spcAft>
                <a:spcPts val="500"/>
              </a:spcAft>
              <a:buSzPct val="100000"/>
              <a:buChar char="•"/>
            </a:pPr>
            <a:r>
              <a:rPr lang="en-US" sz="1400" dirty="0">
                <a:solidFill>
                  <a:schemeClr val="tx1"/>
                </a:solidFill>
              </a:rPr>
              <a:t>Rewrote lwIP receive callback; streams DMA buffers</a:t>
            </a:r>
            <a:endParaRPr lang="en-US" sz="1400" dirty="0"/>
          </a:p>
        </p:txBody>
      </p:sp>
      <p:sp>
        <p:nvSpPr>
          <p:cNvPr id="18" name="Module card 4"/>
          <p:cNvSpPr/>
          <p:nvPr/>
        </p:nvSpPr>
        <p:spPr>
          <a:xfrm>
            <a:off x="3977640" y="3703320"/>
            <a:ext cx="324612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101600" dist="25400" dir="5400000">
              <a:srgbClr val="0B1F33">
                <a:alpha val="18000"/>
              </a:srgbClr>
            </a:outerShdw>
          </a:effectLst>
        </p:spPr>
      </p:sp>
      <p:sp>
        <p:nvSpPr>
          <p:cNvPr id="19" name="Module icon circle 4"/>
          <p:cNvSpPr/>
          <p:nvPr/>
        </p:nvSpPr>
        <p:spPr>
          <a:xfrm>
            <a:off x="4160520" y="3886200"/>
            <a:ext cx="457200" cy="457200"/>
          </a:xfrm>
          <a:prstGeom prst="ellipse">
            <a:avLst/>
          </a:prstGeom>
          <a:solidFill>
            <a:schemeClr val="accent1"/>
          </a:solidFill>
          <a:ln w="12700">
            <a:solidFill>
              <a:schemeClr val="accent1"/>
            </a:solidFill>
            <a:prstDash val="solid"/>
          </a:ln>
        </p:spPr>
      </p:sp>
      <p:pic>
        <p:nvPicPr>
          <p:cNvPr id="20" name="Module icon 4" descr="gui.py dashboard">    </p:cNvPr>
          <p:cNvPicPr>
            <a:picLocks noChangeAspect="1"/>
          </p:cNvPicPr>
          <p:nvPr/>
        </p:nvPicPr>
        <p:blipFill>
          <a:blip r:embed="rId4"/>
          <a:stretch>
            <a:fillRect/>
          </a:stretch>
        </p:blipFill>
        <p:spPr>
          <a:xfrm>
            <a:off x="4279392" y="4005072"/>
            <a:ext cx="219456" cy="219456"/>
          </a:xfrm>
          <a:prstGeom prst="rect">
            <a:avLst/>
          </a:prstGeom>
        </p:spPr>
      </p:pic>
      <p:sp>
        <p:nvSpPr>
          <p:cNvPr id="21" name="Text 15"/>
          <p:cNvSpPr txBox="1"/>
          <p:nvPr/>
        </p:nvSpPr>
        <p:spPr>
          <a:xfrm>
            <a:off x="4709160" y="3886200"/>
            <a:ext cx="242316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gui.py dashboard</a:t>
            </a:r>
            <a:endParaRPr lang="en-US" sz="1600" dirty="0"/>
          </a:p>
        </p:txBody>
      </p:sp>
      <p:sp>
        <p:nvSpPr>
          <p:cNvPr id="22" name="Text 16"/>
          <p:cNvSpPr txBox="1"/>
          <p:nvPr/>
        </p:nvSpPr>
        <p:spPr>
          <a:xfrm>
            <a:off x="4160520" y="4480560"/>
            <a:ext cx="2880360" cy="13716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Threaded socket ingest; signed 16-bit unpack</a:t>
            </a:r>
            <a:endParaRPr lang="en-US" sz="1400" dirty="0"/>
          </a:p>
          <a:p>
            <a:pPr marL="342900" indent="-342900">
              <a:spcAft>
                <a:spcPts val="500"/>
              </a:spcAft>
              <a:buSzPct val="100000"/>
              <a:buChar char="•"/>
            </a:pPr>
            <a:r>
              <a:rPr lang="en-US" sz="1400" dirty="0">
                <a:solidFill>
                  <a:schemeClr val="tx1"/>
                </a:solidFill>
              </a:rPr>
              <a:t>Savitzky-Golay filter (window 31, order 3)</a:t>
            </a:r>
            <a:endParaRPr lang="en-US" sz="1400" dirty="0"/>
          </a:p>
        </p:txBody>
      </p:sp>
      <p:sp>
        <p:nvSpPr>
          <p:cNvPr id="23" name="Interface panel"/>
          <p:cNvSpPr/>
          <p:nvPr/>
        </p:nvSpPr>
        <p:spPr>
          <a:xfrm>
            <a:off x="7498080" y="1280160"/>
            <a:ext cx="4160520" cy="4663440"/>
          </a:xfrm>
          <a:prstGeom prst="roundRect">
            <a:avLst>
              <a:gd name="adj" fmla="val 2637"/>
            </a:avLst>
          </a:prstGeom>
          <a:solidFill>
            <a:schemeClr val="tx1"/>
          </a:solidFill>
          <a:ln w="12700">
            <a:solidFill>
              <a:schemeClr val="tx1"/>
            </a:solidFill>
            <a:prstDash val="solid"/>
          </a:ln>
        </p:spPr>
      </p:sp>
      <p:sp>
        <p:nvSpPr>
          <p:cNvPr id="24" name="Text 18"/>
          <p:cNvSpPr txBox="1"/>
          <p:nvPr/>
        </p:nvSpPr>
        <p:spPr>
          <a:xfrm>
            <a:off x="7726680" y="1417320"/>
            <a:ext cx="3749040" cy="365760"/>
          </a:xfrm>
          <a:prstGeom prst="rect">
            <a:avLst/>
          </a:prstGeom>
          <a:noFill/>
          <a:ln/>
        </p:spPr>
        <p:txBody>
          <a:bodyPr wrap="square" lIns="0" tIns="0" rIns="0" bIns="0" rtlCol="0" anchor="ctr"/>
          <a:lstStyle/>
          <a:p>
            <a:pPr indent="0" marL="0">
              <a:buNone/>
            </a:pPr>
            <a:r>
              <a:rPr lang="en-US" sz="1600" b="1" dirty="0">
                <a:solidFill>
                  <a:schemeClr val="bg1"/>
                </a:solidFill>
              </a:rPr>
              <a:t>Wrapper interface sketch</a:t>
            </a:r>
            <a:endParaRPr lang="en-US" sz="1600" dirty="0"/>
          </a:p>
        </p:txBody>
      </p:sp>
      <p:sp>
        <p:nvSpPr>
          <p:cNvPr id="25" name="Wrapper block"/>
          <p:cNvSpPr/>
          <p:nvPr/>
        </p:nvSpPr>
        <p:spPr>
          <a:xfrm>
            <a:off x="8915400" y="2011680"/>
            <a:ext cx="1463040" cy="3200400"/>
          </a:xfrm>
          <a:prstGeom prst="roundRect">
            <a:avLst>
              <a:gd name="adj" fmla="val 6250"/>
            </a:avLst>
          </a:prstGeom>
          <a:solidFill>
            <a:schemeClr val="accent1"/>
          </a:solidFill>
          <a:ln w="12700">
            <a:solidFill>
              <a:schemeClr val="accent1"/>
            </a:solidFill>
            <a:prstDash val="solid"/>
          </a:ln>
        </p:spPr>
      </p:sp>
      <p:sp>
        <p:nvSpPr>
          <p:cNvPr id="26" name="Text 20"/>
          <p:cNvSpPr txBox="1"/>
          <p:nvPr/>
        </p:nvSpPr>
        <p:spPr>
          <a:xfrm>
            <a:off x="8915400" y="2011680"/>
            <a:ext cx="1463040" cy="3200400"/>
          </a:xfrm>
          <a:prstGeom prst="rect">
            <a:avLst/>
          </a:prstGeom>
          <a:noFill/>
          <a:ln/>
        </p:spPr>
        <p:txBody>
          <a:bodyPr wrap="square" lIns="635" tIns="635" rIns="635" bIns="635" rtlCol="0" anchor="ctr"/>
          <a:lstStyle/>
          <a:p>
            <a:pPr algn="ctr" indent="0" marL="0">
              <a:buNone/>
            </a:pPr>
            <a:r>
              <a:rPr lang="en-US" sz="1400" b="1" dirty="0">
                <a:solidFill>
                  <a:schemeClr val="bg1"/>
                </a:solidFill>
              </a:rPr>
              <a:t>pmdc_axis</a:t>
            </a:r>
            <a:endParaRPr lang="en-US" sz="1400" dirty="0"/>
          </a:p>
          <a:p>
            <a:pPr algn="ctr" indent="0" marL="0">
              <a:buNone/>
            </a:pPr>
            <a:r>
              <a:rPr lang="en-US" sz="1400" b="1" dirty="0">
                <a:solidFill>
                  <a:schemeClr val="bg1"/>
                </a:solidFill>
              </a:rPr>
              <a:t>_wrapper</a:t>
            </a:r>
            <a:endParaRPr lang="en-US" sz="1400" dirty="0"/>
          </a:p>
          <a:p>
            <a:pPr algn="ctr" indent="0" marL="0">
              <a:buNone/>
            </a:pPr>
            <a:r>
              <a:rPr lang="en-US" sz="1200" dirty="0">
                <a:solidFill>
                  <a:schemeClr val="bg1"/>
                </a:solidFill>
              </a:rPr>
              <a:t>clock-enable gate</a:t>
            </a:r>
            <a:endParaRPr lang="en-US" sz="1400" dirty="0"/>
          </a:p>
          <a:p>
            <a:pPr algn="ctr" indent="0" marL="0">
              <a:buNone/>
            </a:pPr>
            <a:r>
              <a:rPr lang="en-US" sz="1200" dirty="0">
                <a:solidFill>
                  <a:schemeClr val="bg1"/>
                </a:solidFill>
              </a:rPr>
              <a:t>+ data packer</a:t>
            </a:r>
            <a:endParaRPr lang="en-US" sz="1400" dirty="0"/>
          </a:p>
        </p:txBody>
      </p:sp>
      <p:sp>
        <p:nvSpPr>
          <p:cNvPr id="27" name="Text 21"/>
          <p:cNvSpPr txBox="1"/>
          <p:nvPr/>
        </p:nvSpPr>
        <p:spPr>
          <a:xfrm>
            <a:off x="7680960" y="2240280"/>
            <a:ext cx="914400" cy="365760"/>
          </a:xfrm>
          <a:prstGeom prst="rect">
            <a:avLst/>
          </a:prstGeom>
          <a:noFill/>
          <a:ln/>
        </p:spPr>
        <p:txBody>
          <a:bodyPr wrap="square" lIns="0" tIns="0" rIns="0" bIns="0" rtlCol="0" anchor="ctr"/>
          <a:lstStyle/>
          <a:p>
            <a:pPr algn="r" indent="0" marL="0">
              <a:buNone/>
            </a:pPr>
            <a:r>
              <a:rPr lang="en-US" sz="1200" dirty="0">
                <a:solidFill>
                  <a:schemeClr val="bg1"/>
                </a:solidFill>
              </a:rPr>
              <a:t>clk</a:t>
            </a:r>
            <a:endParaRPr lang="en-US" sz="1200" dirty="0"/>
          </a:p>
        </p:txBody>
      </p:sp>
      <p:sp>
        <p:nvSpPr>
          <p:cNvPr id="28" name="In arrow 1"/>
          <p:cNvSpPr/>
          <p:nvPr/>
        </p:nvSpPr>
        <p:spPr>
          <a:xfrm>
            <a:off x="8595360" y="2423160"/>
            <a:ext cx="320040" cy="0"/>
          </a:xfrm>
          <a:prstGeom prst="line">
            <a:avLst/>
          </a:prstGeom>
          <a:noFill/>
          <a:ln w="25400">
            <a:solidFill>
              <a:schemeClr val="accent2"/>
            </a:solidFill>
            <a:prstDash val="solid"/>
            <a:tailEnd type="triangle"/>
          </a:ln>
        </p:spPr>
      </p:sp>
      <p:sp>
        <p:nvSpPr>
          <p:cNvPr id="29" name="Text 23"/>
          <p:cNvSpPr txBox="1"/>
          <p:nvPr/>
        </p:nvSpPr>
        <p:spPr>
          <a:xfrm>
            <a:off x="7680960" y="3200400"/>
            <a:ext cx="914400" cy="365760"/>
          </a:xfrm>
          <a:prstGeom prst="rect">
            <a:avLst/>
          </a:prstGeom>
          <a:noFill/>
          <a:ln/>
        </p:spPr>
        <p:txBody>
          <a:bodyPr wrap="square" lIns="0" tIns="0" rIns="0" bIns="0" rtlCol="0" anchor="ctr"/>
          <a:lstStyle/>
          <a:p>
            <a:pPr algn="r" indent="0" marL="0">
              <a:buNone/>
            </a:pPr>
            <a:r>
              <a:rPr lang="en-US" sz="1200" dirty="0">
                <a:solidFill>
                  <a:schemeClr val="bg1"/>
                </a:solidFill>
              </a:rPr>
              <a:t>PWM duty</a:t>
            </a:r>
            <a:endParaRPr lang="en-US" sz="1200" dirty="0"/>
          </a:p>
        </p:txBody>
      </p:sp>
      <p:sp>
        <p:nvSpPr>
          <p:cNvPr id="30" name="In arrow 2"/>
          <p:cNvSpPr/>
          <p:nvPr/>
        </p:nvSpPr>
        <p:spPr>
          <a:xfrm>
            <a:off x="8595360" y="3383280"/>
            <a:ext cx="320040" cy="0"/>
          </a:xfrm>
          <a:prstGeom prst="line">
            <a:avLst/>
          </a:prstGeom>
          <a:noFill/>
          <a:ln w="25400">
            <a:solidFill>
              <a:schemeClr val="accent2"/>
            </a:solidFill>
            <a:prstDash val="solid"/>
            <a:tailEnd type="triangle"/>
          </a:ln>
        </p:spPr>
      </p:sp>
      <p:sp>
        <p:nvSpPr>
          <p:cNvPr id="31" name="Text 25"/>
          <p:cNvSpPr txBox="1"/>
          <p:nvPr/>
        </p:nvSpPr>
        <p:spPr>
          <a:xfrm>
            <a:off x="7680960" y="4160520"/>
            <a:ext cx="914400" cy="365760"/>
          </a:xfrm>
          <a:prstGeom prst="rect">
            <a:avLst/>
          </a:prstGeom>
          <a:noFill/>
          <a:ln/>
        </p:spPr>
        <p:txBody>
          <a:bodyPr wrap="square" lIns="0" tIns="0" rIns="0" bIns="0" rtlCol="0" anchor="ctr"/>
          <a:lstStyle/>
          <a:p>
            <a:pPr algn="r" indent="0" marL="0">
              <a:buNone/>
            </a:pPr>
            <a:r>
              <a:rPr lang="en-US" sz="1200" dirty="0">
                <a:solidFill>
                  <a:schemeClr val="bg1"/>
                </a:solidFill>
              </a:rPr>
              <a:t>tready</a:t>
            </a:r>
            <a:endParaRPr lang="en-US" sz="1200" dirty="0"/>
          </a:p>
        </p:txBody>
      </p:sp>
      <p:sp>
        <p:nvSpPr>
          <p:cNvPr id="32" name="In arrow 3"/>
          <p:cNvSpPr/>
          <p:nvPr/>
        </p:nvSpPr>
        <p:spPr>
          <a:xfrm>
            <a:off x="8595360" y="4343400"/>
            <a:ext cx="320040" cy="0"/>
          </a:xfrm>
          <a:prstGeom prst="line">
            <a:avLst/>
          </a:prstGeom>
          <a:noFill/>
          <a:ln w="25400">
            <a:solidFill>
              <a:schemeClr val="accent2"/>
            </a:solidFill>
            <a:prstDash val="solid"/>
            <a:tailEnd type="triangle"/>
          </a:ln>
        </p:spPr>
      </p:sp>
      <p:sp>
        <p:nvSpPr>
          <p:cNvPr id="33" name="Out arrow 1"/>
          <p:cNvSpPr/>
          <p:nvPr/>
        </p:nvSpPr>
        <p:spPr>
          <a:xfrm>
            <a:off x="10378440" y="2926080"/>
            <a:ext cx="320040" cy="0"/>
          </a:xfrm>
          <a:prstGeom prst="line">
            <a:avLst/>
          </a:prstGeom>
          <a:noFill/>
          <a:ln w="25400">
            <a:solidFill>
              <a:schemeClr val="accent2"/>
            </a:solidFill>
            <a:prstDash val="solid"/>
            <a:tailEnd type="triangle"/>
          </a:ln>
        </p:spPr>
      </p:sp>
      <p:sp>
        <p:nvSpPr>
          <p:cNvPr id="34" name="Text 28"/>
          <p:cNvSpPr txBox="1"/>
          <p:nvPr/>
        </p:nvSpPr>
        <p:spPr>
          <a:xfrm>
            <a:off x="10744200" y="2743200"/>
            <a:ext cx="914400" cy="365760"/>
          </a:xfrm>
          <a:prstGeom prst="rect">
            <a:avLst/>
          </a:prstGeom>
          <a:noFill/>
          <a:ln/>
        </p:spPr>
        <p:txBody>
          <a:bodyPr wrap="square" lIns="0" tIns="0" rIns="0" bIns="0" rtlCol="0" anchor="ctr"/>
          <a:lstStyle/>
          <a:p>
            <a:pPr indent="0" marL="0">
              <a:buNone/>
            </a:pPr>
            <a:r>
              <a:rPr lang="en-US" sz="1200" dirty="0">
                <a:solidFill>
                  <a:schemeClr val="bg1"/>
                </a:solidFill>
              </a:rPr>
              <a:t>tdata[31:0]</a:t>
            </a:r>
            <a:endParaRPr lang="en-US" sz="1200" dirty="0"/>
          </a:p>
        </p:txBody>
      </p:sp>
      <p:sp>
        <p:nvSpPr>
          <p:cNvPr id="35" name="Out arrow 2"/>
          <p:cNvSpPr/>
          <p:nvPr/>
        </p:nvSpPr>
        <p:spPr>
          <a:xfrm>
            <a:off x="10378440" y="3886200"/>
            <a:ext cx="320040" cy="0"/>
          </a:xfrm>
          <a:prstGeom prst="line">
            <a:avLst/>
          </a:prstGeom>
          <a:noFill/>
          <a:ln w="25400">
            <a:solidFill>
              <a:schemeClr val="accent2"/>
            </a:solidFill>
            <a:prstDash val="solid"/>
            <a:tailEnd type="triangle"/>
          </a:ln>
        </p:spPr>
      </p:sp>
      <p:sp>
        <p:nvSpPr>
          <p:cNvPr id="36" name="Text 30"/>
          <p:cNvSpPr txBox="1"/>
          <p:nvPr/>
        </p:nvSpPr>
        <p:spPr>
          <a:xfrm>
            <a:off x="10744200" y="3703320"/>
            <a:ext cx="914400" cy="365760"/>
          </a:xfrm>
          <a:prstGeom prst="rect">
            <a:avLst/>
          </a:prstGeom>
          <a:noFill/>
          <a:ln/>
        </p:spPr>
        <p:txBody>
          <a:bodyPr wrap="square" lIns="0" tIns="0" rIns="0" bIns="0" rtlCol="0" anchor="ctr"/>
          <a:lstStyle/>
          <a:p>
            <a:pPr indent="0" marL="0">
              <a:buNone/>
            </a:pPr>
            <a:r>
              <a:rPr lang="en-US" sz="1200" dirty="0">
                <a:solidFill>
                  <a:schemeClr val="bg1"/>
                </a:solidFill>
              </a:rPr>
              <a:t>tvalid</a:t>
            </a:r>
            <a:endParaRPr lang="en-US" sz="1200" dirty="0"/>
          </a:p>
        </p:txBody>
      </p:sp>
      <p:sp>
        <p:nvSpPr>
          <p:cNvPr id="37" name="Text 31"/>
          <p:cNvSpPr txBox="1"/>
          <p:nvPr/>
        </p:nvSpPr>
        <p:spPr>
          <a:xfrm>
            <a:off x="7726680" y="5349240"/>
            <a:ext cx="3749040" cy="320040"/>
          </a:xfrm>
          <a:prstGeom prst="rect">
            <a:avLst/>
          </a:prstGeom>
          <a:noFill/>
          <a:ln/>
        </p:spPr>
        <p:txBody>
          <a:bodyPr wrap="square" lIns="0" tIns="0" rIns="0" bIns="0" rtlCol="0" anchor="ctr"/>
          <a:lstStyle/>
          <a:p>
            <a:pPr indent="0" marL="0">
              <a:buNone/>
            </a:pPr>
            <a:r>
              <a:rPr lang="en-US" sz="1200" i="1" dirty="0">
                <a:solidFill>
                  <a:schemeClr val="accent4"/>
                </a:solidFill>
              </a:rPr>
              <a:t>tdata = 16-bit ia + 16-bit ω</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Results &amp; Validation</a:t>
            </a:r>
            <a:endParaRPr lang="en-US" sz="3600" dirty="0"/>
          </a:p>
        </p:txBody>
      </p:sp>
      <p:sp>
        <p:nvSpPr>
          <p:cNvPr id="3" name="Transient frame"/>
          <p:cNvSpPr/>
          <p:nvPr/>
        </p:nvSpPr>
        <p:spPr>
          <a:xfrm>
            <a:off x="457200" y="1234440"/>
            <a:ext cx="5669280" cy="3452505"/>
          </a:xfrm>
          <a:prstGeom prst="roundRect">
            <a:avLst>
              <a:gd name="adj" fmla="val 3178"/>
            </a:avLst>
          </a:prstGeom>
          <a:solidFill>
            <a:schemeClr val="bg2"/>
          </a:solidFill>
          <a:ln w="12700">
            <a:solidFill>
              <a:schemeClr val="bg2"/>
            </a:solidFill>
            <a:prstDash val="solid"/>
          </a:ln>
        </p:spPr>
      </p:sp>
      <p:pic>
        <p:nvPicPr>
          <p:cNvPr id="4" name="Transient plot" descr="Cold-start phase current and motor velocity">    </p:cNvPr>
          <p:cNvPicPr>
            <a:picLocks noChangeAspect="1"/>
          </p:cNvPicPr>
          <p:nvPr/>
        </p:nvPicPr>
        <p:blipFill>
          <a:blip r:embed="rId1"/>
          <a:stretch>
            <a:fillRect/>
          </a:stretch>
        </p:blipFill>
        <p:spPr>
          <a:xfrm>
            <a:off x="548640" y="1325880"/>
            <a:ext cx="5486400" cy="2949585"/>
          </a:xfrm>
          <a:prstGeom prst="rect">
            <a:avLst/>
          </a:prstGeom>
        </p:spPr>
      </p:pic>
      <p:sp>
        <p:nvSpPr>
          <p:cNvPr id="5" name="Text 2"/>
          <p:cNvSpPr txBox="1"/>
          <p:nvPr/>
        </p:nvSpPr>
        <p:spPr>
          <a:xfrm>
            <a:off x="548640" y="4302897"/>
            <a:ext cx="5486400" cy="274320"/>
          </a:xfrm>
          <a:prstGeom prst="rect">
            <a:avLst/>
          </a:prstGeom>
          <a:noFill/>
          <a:ln/>
        </p:spPr>
        <p:txBody>
          <a:bodyPr wrap="square" lIns="0" tIns="0" rIns="0" bIns="0" rtlCol="0" anchor="ctr"/>
          <a:lstStyle/>
          <a:p>
            <a:pPr indent="0" marL="0">
              <a:buNone/>
            </a:pPr>
            <a:r>
              <a:rPr lang="en-US" sz="1100" i="1" dirty="0">
                <a:solidFill>
                  <a:schemeClr val="accent3"/>
                </a:solidFill>
              </a:rPr>
              <a:t>Cold-start transient: phase current (top), motor velocity (bottom)</a:t>
            </a:r>
            <a:endParaRPr lang="en-US" sz="1100" dirty="0"/>
          </a:p>
        </p:txBody>
      </p:sp>
      <p:sp>
        <p:nvSpPr>
          <p:cNvPr id="6" name="Stat 1"/>
          <p:cNvSpPr/>
          <p:nvPr/>
        </p:nvSpPr>
        <p:spPr>
          <a:xfrm>
            <a:off x="457200" y="4892040"/>
            <a:ext cx="1737360" cy="1234440"/>
          </a:xfrm>
          <a:prstGeom prst="roundRect">
            <a:avLst>
              <a:gd name="adj" fmla="val 8889"/>
            </a:avLst>
          </a:prstGeom>
          <a:solidFill>
            <a:schemeClr val="accent2"/>
          </a:solidFill>
          <a:ln w="12700">
            <a:solidFill>
              <a:schemeClr val="accent2"/>
            </a:solidFill>
            <a:prstDash val="solid"/>
          </a:ln>
        </p:spPr>
      </p:sp>
      <p:sp>
        <p:nvSpPr>
          <p:cNvPr id="7" name="Text 4"/>
          <p:cNvSpPr txBox="1"/>
          <p:nvPr/>
        </p:nvSpPr>
        <p:spPr>
          <a:xfrm>
            <a:off x="457200" y="4892040"/>
            <a:ext cx="1737360" cy="1234440"/>
          </a:xfrm>
          <a:prstGeom prst="rect">
            <a:avLst/>
          </a:prstGeom>
          <a:noFill/>
          <a:ln/>
        </p:spPr>
        <p:txBody>
          <a:bodyPr wrap="square" lIns="635" tIns="635" rIns="635" bIns="635" rtlCol="0" anchor="ctr"/>
          <a:lstStyle/>
          <a:p>
            <a:pPr algn="ctr" indent="0" marL="0">
              <a:buNone/>
            </a:pPr>
            <a:r>
              <a:rPr lang="en-US" sz="2600" b="1" dirty="0">
                <a:solidFill>
                  <a:schemeClr val="tx1"/>
                </a:solidFill>
              </a:rPr>
              <a:t>0.56 A</a:t>
            </a:r>
            <a:endParaRPr lang="en-US" sz="2600" dirty="0"/>
          </a:p>
          <a:p>
            <a:pPr algn="ctr" indent="0" marL="0">
              <a:buNone/>
            </a:pPr>
            <a:r>
              <a:rPr lang="en-US" sz="1400" dirty="0">
                <a:solidFill>
                  <a:schemeClr val="tx1"/>
                </a:solidFill>
              </a:rPr>
              <a:t>peak inrush</a:t>
            </a:r>
            <a:endParaRPr lang="en-US" sz="2600" dirty="0"/>
          </a:p>
        </p:txBody>
      </p:sp>
      <p:sp>
        <p:nvSpPr>
          <p:cNvPr id="8" name="Stat 2"/>
          <p:cNvSpPr/>
          <p:nvPr/>
        </p:nvSpPr>
        <p:spPr>
          <a:xfrm>
            <a:off x="2377440" y="4892040"/>
            <a:ext cx="1737360" cy="1234440"/>
          </a:xfrm>
          <a:prstGeom prst="roundRect">
            <a:avLst>
              <a:gd name="adj" fmla="val 8889"/>
            </a:avLst>
          </a:prstGeom>
          <a:solidFill>
            <a:schemeClr val="tx1"/>
          </a:solidFill>
          <a:ln w="12700">
            <a:solidFill>
              <a:schemeClr val="tx1"/>
            </a:solidFill>
            <a:prstDash val="solid"/>
          </a:ln>
        </p:spPr>
      </p:sp>
      <p:sp>
        <p:nvSpPr>
          <p:cNvPr id="9" name="Text 6"/>
          <p:cNvSpPr txBox="1"/>
          <p:nvPr/>
        </p:nvSpPr>
        <p:spPr>
          <a:xfrm>
            <a:off x="2377440" y="4892040"/>
            <a:ext cx="1737360" cy="1234440"/>
          </a:xfrm>
          <a:prstGeom prst="rect">
            <a:avLst/>
          </a:prstGeom>
          <a:noFill/>
          <a:ln/>
        </p:spPr>
        <p:txBody>
          <a:bodyPr wrap="square" lIns="635" tIns="635" rIns="635" bIns="635" rtlCol="0" anchor="ctr"/>
          <a:lstStyle/>
          <a:p>
            <a:pPr algn="ctr" indent="0" marL="0">
              <a:buNone/>
            </a:pPr>
            <a:r>
              <a:rPr lang="en-US" sz="2600" b="1" dirty="0">
                <a:solidFill>
                  <a:schemeClr val="bg1"/>
                </a:solidFill>
              </a:rPr>
              <a:t>3 rad/s</a:t>
            </a:r>
            <a:endParaRPr lang="en-US" sz="2600" dirty="0"/>
          </a:p>
          <a:p>
            <a:pPr algn="ctr" indent="0" marL="0">
              <a:buNone/>
            </a:pPr>
            <a:r>
              <a:rPr lang="en-US" sz="1400" dirty="0">
                <a:solidFill>
                  <a:schemeClr val="accent4"/>
                </a:solidFill>
              </a:rPr>
              <a:t>steady speed</a:t>
            </a:r>
            <a:endParaRPr lang="en-US" sz="2600" dirty="0"/>
          </a:p>
        </p:txBody>
      </p:sp>
      <p:sp>
        <p:nvSpPr>
          <p:cNvPr id="10" name="Stat 3"/>
          <p:cNvSpPr/>
          <p:nvPr/>
        </p:nvSpPr>
        <p:spPr>
          <a:xfrm>
            <a:off x="4297680" y="4892040"/>
            <a:ext cx="1737360" cy="1234440"/>
          </a:xfrm>
          <a:prstGeom prst="roundRect">
            <a:avLst>
              <a:gd name="adj" fmla="val 8889"/>
            </a:avLst>
          </a:prstGeom>
          <a:solidFill>
            <a:schemeClr val="tx1"/>
          </a:solidFill>
          <a:ln w="12700">
            <a:solidFill>
              <a:schemeClr val="tx1"/>
            </a:solidFill>
            <a:prstDash val="solid"/>
          </a:ln>
        </p:spPr>
      </p:sp>
      <p:sp>
        <p:nvSpPr>
          <p:cNvPr id="11" name="Text 8"/>
          <p:cNvSpPr txBox="1"/>
          <p:nvPr/>
        </p:nvSpPr>
        <p:spPr>
          <a:xfrm>
            <a:off x="4297680" y="4892040"/>
            <a:ext cx="1737360" cy="1234440"/>
          </a:xfrm>
          <a:prstGeom prst="rect">
            <a:avLst/>
          </a:prstGeom>
          <a:noFill/>
          <a:ln/>
        </p:spPr>
        <p:txBody>
          <a:bodyPr wrap="square" lIns="635" tIns="635" rIns="635" bIns="635" rtlCol="0" anchor="ctr"/>
          <a:lstStyle/>
          <a:p>
            <a:pPr algn="ctr" indent="0" marL="0">
              <a:buNone/>
            </a:pPr>
            <a:r>
              <a:rPr lang="en-US" sz="2600" b="1" dirty="0">
                <a:solidFill>
                  <a:schemeClr val="bg1"/>
                </a:solidFill>
              </a:rPr>
              <a:t>350 ms</a:t>
            </a:r>
            <a:endParaRPr lang="en-US" sz="2600" dirty="0"/>
          </a:p>
          <a:p>
            <a:pPr algn="ctr" indent="0" marL="0">
              <a:buNone/>
            </a:pPr>
            <a:r>
              <a:rPr lang="en-US" sz="1400" dirty="0">
                <a:solidFill>
                  <a:schemeClr val="accent4"/>
                </a:solidFill>
              </a:rPr>
              <a:t>settling time</a:t>
            </a:r>
            <a:endParaRPr lang="en-US" sz="2600" dirty="0"/>
          </a:p>
        </p:txBody>
      </p:sp>
      <p:pic>
        <p:nvPicPr>
          <p:cNvPr id="12" name="Plot 100% duty" descr="Steady-state phase current at 100% duty">    </p:cNvPr>
          <p:cNvPicPr>
            <a:picLocks noChangeAspect="1"/>
          </p:cNvPicPr>
          <p:nvPr/>
        </p:nvPicPr>
        <p:blipFill>
          <a:blip r:embed="rId2"/>
          <a:stretch>
            <a:fillRect/>
          </a:stretch>
        </p:blipFill>
        <p:spPr>
          <a:xfrm>
            <a:off x="6355080" y="1280160"/>
            <a:ext cx="2560320" cy="661248"/>
          </a:xfrm>
          <a:prstGeom prst="rect">
            <a:avLst/>
          </a:prstGeom>
        </p:spPr>
      </p:pic>
      <p:sp>
        <p:nvSpPr>
          <p:cNvPr id="13" name="Text 9"/>
          <p:cNvSpPr txBox="1"/>
          <p:nvPr/>
        </p:nvSpPr>
        <p:spPr>
          <a:xfrm>
            <a:off x="6355080" y="1959696"/>
            <a:ext cx="2560320" cy="256032"/>
          </a:xfrm>
          <a:prstGeom prst="rect">
            <a:avLst/>
          </a:prstGeom>
          <a:noFill/>
          <a:ln/>
        </p:spPr>
        <p:txBody>
          <a:bodyPr wrap="square" lIns="0" tIns="0" rIns="0" bIns="0" rtlCol="0" anchor="ctr"/>
          <a:lstStyle/>
          <a:p>
            <a:pPr indent="0" marL="0">
              <a:buNone/>
            </a:pPr>
            <a:r>
              <a:rPr lang="en-US" sz="1000" i="1" dirty="0">
                <a:solidFill>
                  <a:schemeClr val="accent3"/>
                </a:solidFill>
              </a:rPr>
              <a:t>100% duty, samples 210,000 to 211,000</a:t>
            </a:r>
            <a:endParaRPr lang="en-US" sz="1000" dirty="0"/>
          </a:p>
        </p:txBody>
      </p:sp>
      <p:pic>
        <p:nvPicPr>
          <p:cNvPr id="14" name="Plot 75% duty" descr="Steady-state phase current at 75% duty">    </p:cNvPr>
          <p:cNvPicPr>
            <a:picLocks noChangeAspect="1"/>
          </p:cNvPicPr>
          <p:nvPr/>
        </p:nvPicPr>
        <p:blipFill>
          <a:blip r:embed="rId3"/>
          <a:stretch>
            <a:fillRect/>
          </a:stretch>
        </p:blipFill>
        <p:spPr>
          <a:xfrm>
            <a:off x="9098280" y="1280160"/>
            <a:ext cx="2560320" cy="661248"/>
          </a:xfrm>
          <a:prstGeom prst="rect">
            <a:avLst/>
          </a:prstGeom>
        </p:spPr>
      </p:pic>
      <p:sp>
        <p:nvSpPr>
          <p:cNvPr id="15" name="Text 10"/>
          <p:cNvSpPr txBox="1"/>
          <p:nvPr/>
        </p:nvSpPr>
        <p:spPr>
          <a:xfrm>
            <a:off x="9098280" y="1959696"/>
            <a:ext cx="2560320" cy="256032"/>
          </a:xfrm>
          <a:prstGeom prst="rect">
            <a:avLst/>
          </a:prstGeom>
          <a:noFill/>
          <a:ln/>
        </p:spPr>
        <p:txBody>
          <a:bodyPr wrap="square" lIns="0" tIns="0" rIns="0" bIns="0" rtlCol="0" anchor="ctr"/>
          <a:lstStyle/>
          <a:p>
            <a:pPr indent="0" marL="0">
              <a:buNone/>
            </a:pPr>
            <a:r>
              <a:rPr lang="en-US" sz="1000" i="1" dirty="0">
                <a:solidFill>
                  <a:schemeClr val="accent3"/>
                </a:solidFill>
              </a:rPr>
              <a:t>75% duty, samples 210,000 to 211,000</a:t>
            </a:r>
            <a:endParaRPr lang="en-US" sz="1000" dirty="0"/>
          </a:p>
        </p:txBody>
      </p:sp>
      <p:pic>
        <p:nvPicPr>
          <p:cNvPr id="16" name="Plot 50% duty" descr="Steady-state phase current at 50% duty">    </p:cNvPr>
          <p:cNvPicPr>
            <a:picLocks noChangeAspect="1"/>
          </p:cNvPicPr>
          <p:nvPr/>
        </p:nvPicPr>
        <p:blipFill>
          <a:blip r:embed="rId4"/>
          <a:stretch>
            <a:fillRect/>
          </a:stretch>
        </p:blipFill>
        <p:spPr>
          <a:xfrm>
            <a:off x="6355080" y="2398608"/>
            <a:ext cx="2560320" cy="661248"/>
          </a:xfrm>
          <a:prstGeom prst="rect">
            <a:avLst/>
          </a:prstGeom>
        </p:spPr>
      </p:pic>
      <p:sp>
        <p:nvSpPr>
          <p:cNvPr id="17" name="Text 11"/>
          <p:cNvSpPr txBox="1"/>
          <p:nvPr/>
        </p:nvSpPr>
        <p:spPr>
          <a:xfrm>
            <a:off x="6355080" y="3078144"/>
            <a:ext cx="2560320" cy="256032"/>
          </a:xfrm>
          <a:prstGeom prst="rect">
            <a:avLst/>
          </a:prstGeom>
          <a:noFill/>
          <a:ln/>
        </p:spPr>
        <p:txBody>
          <a:bodyPr wrap="square" lIns="0" tIns="0" rIns="0" bIns="0" rtlCol="0" anchor="ctr"/>
          <a:lstStyle/>
          <a:p>
            <a:pPr indent="0" marL="0">
              <a:buNone/>
            </a:pPr>
            <a:r>
              <a:rPr lang="en-US" sz="1000" i="1" dirty="0">
                <a:solidFill>
                  <a:schemeClr val="accent3"/>
                </a:solidFill>
              </a:rPr>
              <a:t>50% duty, samples 210,000 to 211,000</a:t>
            </a:r>
            <a:endParaRPr lang="en-US" sz="1000" dirty="0"/>
          </a:p>
        </p:txBody>
      </p:sp>
      <p:pic>
        <p:nvPicPr>
          <p:cNvPr id="18" name="Plot 25% duty" descr="Steady-state phase current at 25% duty">    </p:cNvPr>
          <p:cNvPicPr>
            <a:picLocks noChangeAspect="1"/>
          </p:cNvPicPr>
          <p:nvPr/>
        </p:nvPicPr>
        <p:blipFill>
          <a:blip r:embed="rId5"/>
          <a:stretch>
            <a:fillRect/>
          </a:stretch>
        </p:blipFill>
        <p:spPr>
          <a:xfrm>
            <a:off x="9098280" y="2398608"/>
            <a:ext cx="2560320" cy="661248"/>
          </a:xfrm>
          <a:prstGeom prst="rect">
            <a:avLst/>
          </a:prstGeom>
        </p:spPr>
      </p:pic>
      <p:sp>
        <p:nvSpPr>
          <p:cNvPr id="19" name="Text 12"/>
          <p:cNvSpPr txBox="1"/>
          <p:nvPr/>
        </p:nvSpPr>
        <p:spPr>
          <a:xfrm>
            <a:off x="9098280" y="3078144"/>
            <a:ext cx="2560320" cy="256032"/>
          </a:xfrm>
          <a:prstGeom prst="rect">
            <a:avLst/>
          </a:prstGeom>
          <a:noFill/>
          <a:ln/>
        </p:spPr>
        <p:txBody>
          <a:bodyPr wrap="square" lIns="0" tIns="0" rIns="0" bIns="0" rtlCol="0" anchor="ctr"/>
          <a:lstStyle/>
          <a:p>
            <a:pPr indent="0" marL="0">
              <a:buNone/>
            </a:pPr>
            <a:r>
              <a:rPr lang="en-US" sz="1000" i="1" dirty="0">
                <a:solidFill>
                  <a:schemeClr val="accent3"/>
                </a:solidFill>
              </a:rPr>
              <a:t>25% duty, samples 210,000 to 211,000</a:t>
            </a:r>
            <a:endParaRPr lang="en-US" sz="1000" dirty="0"/>
          </a:p>
        </p:txBody>
      </p:sp>
      <p:graphicFrame>
        <p:nvGraphicFramePr>
          <p:cNvPr id="6" name="Table 1 metrics"/>
          <p:cNvGraphicFramePr>
            <a:graphicFrameLocks noGrp="1"/>
          </p:cNvGraphicFramePr>
          <p:nvPr>
            <p:extLst>
              <p:ext uri="{D42A27DB-BD31-4B8C-83A1-F6EECF244321}">
                <p14:modId xmlns:p14="http://schemas.microsoft.com/office/powerpoint/2010/main" val="1579011935"/>
              </p:ext>
            </p:extLst>
          </p:nvPr>
        </p:nvGraphicFramePr>
        <p:xfrm>
          <a:off x="6355080" y="3657600"/>
          <a:ext cx="5303520" cy="914400"/>
        </p:xfrm>
        <a:graphic>
          <a:graphicData uri="http://schemas.openxmlformats.org/drawingml/2006/table">
            <a:tbl>
              <a:tblPr/>
              <a:tblGrid>
                <a:gridCol w="822960"/>
                <a:gridCol w="1280160"/>
                <a:gridCol w="1828800"/>
                <a:gridCol w="1371600"/>
              </a:tblGrid>
              <a:tr h="347472">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Duty</a:t>
                      </a:r>
                      <a:endParaRPr lang="en-US" sz="1400" dirty="0">
                        <a:latin typeface="Calibri" charset="0"/>
                        <a:ea typeface="Calibri" charset="0"/>
                        <a:cs typeface="Calibri" charset="0"/>
                      </a:endParaRPr>
                    </a:p>
                  </a:txBody>
                  <a:tcPr marL="27432" marR="27432" marT="27432" marB="27432">
                    <a:lnL w="6350" cap="flat" cmpd="sng" algn="ctr">
                      <a:solidFill>
                        <a:srgbClr val="7FA3C0"/>
                      </a:solidFill>
                      <a:prstDash val="solid"/>
                      <a:round/>
                      <a:headEnd type="none" w="med" len="med"/>
                      <a:tailEnd type="none" w="med" len="med"/>
                    </a:lnL>
                    <a:lnR w="6350" cap="flat" cmpd="sng" algn="ctr">
                      <a:solidFill>
                        <a:srgbClr val="7FA3C0"/>
                      </a:solidFill>
                      <a:prstDash val="solid"/>
                      <a:round/>
                      <a:headEnd type="none" w="med" len="med"/>
                      <a:tailEnd type="none" w="med" len="med"/>
                    </a:lnR>
                    <a:lnT w="6350" cap="flat" cmpd="sng" algn="ctr">
                      <a:solidFill>
                        <a:srgbClr val="7FA3C0"/>
                      </a:solidFill>
                      <a:prstDash val="solid"/>
                      <a:round/>
                      <a:headEnd type="none" w="med" len="med"/>
                      <a:tailEnd type="none" w="med" len="med"/>
                    </a:lnT>
                    <a:lnB w="6350" cap="flat" cmpd="sng" algn="ctr">
                      <a:solidFill>
                        <a:srgbClr val="7FA3C0"/>
                      </a:solidFill>
                      <a:prstDash val="solid"/>
                      <a:round/>
                      <a:headEnd type="none" w="med" len="med"/>
                      <a:tailEnd type="none" w="med" len="med"/>
                    </a:lnB>
                    <a:solidFill>
                      <a:srgbClr val="12304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Peak inrush</a:t>
                      </a:r>
                      <a:endParaRPr lang="en-US" sz="1400" dirty="0">
                        <a:latin typeface="Calibri" charset="0"/>
                        <a:ea typeface="Calibri" charset="0"/>
                        <a:cs typeface="Calibri" charset="0"/>
                      </a:endParaRPr>
                    </a:p>
                  </a:txBody>
                  <a:tcPr marL="27432" marR="27432" marT="27432" marB="27432">
                    <a:lnL w="6350" cap="flat" cmpd="sng" algn="ctr">
                      <a:solidFill>
                        <a:srgbClr val="7FA3C0"/>
                      </a:solidFill>
                      <a:prstDash val="solid"/>
                      <a:round/>
                      <a:headEnd type="none" w="med" len="med"/>
                      <a:tailEnd type="none" w="med" len="med"/>
                    </a:lnL>
                    <a:lnR w="6350" cap="flat" cmpd="sng" algn="ctr">
                      <a:solidFill>
                        <a:srgbClr val="7FA3C0"/>
                      </a:solidFill>
                      <a:prstDash val="solid"/>
                      <a:round/>
                      <a:headEnd type="none" w="med" len="med"/>
                      <a:tailEnd type="none" w="med" len="med"/>
                    </a:lnR>
                    <a:lnT w="6350" cap="flat" cmpd="sng" algn="ctr">
                      <a:solidFill>
                        <a:srgbClr val="7FA3C0"/>
                      </a:solidFill>
                      <a:prstDash val="solid"/>
                      <a:round/>
                      <a:headEnd type="none" w="med" len="med"/>
                      <a:tailEnd type="none" w="med" len="med"/>
                    </a:lnT>
                    <a:lnB w="6350" cap="flat" cmpd="sng" algn="ctr">
                      <a:solidFill>
                        <a:srgbClr val="7FA3C0"/>
                      </a:solidFill>
                      <a:prstDash val="solid"/>
                      <a:round/>
                      <a:headEnd type="none" w="med" len="med"/>
                      <a:tailEnd type="none" w="med" len="med"/>
                    </a:lnB>
                    <a:solidFill>
                      <a:srgbClr val="12304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Mean current</a:t>
                      </a:r>
                      <a:endParaRPr lang="en-US" sz="1400" dirty="0">
                        <a:latin typeface="Calibri" charset="0"/>
                        <a:ea typeface="Calibri" charset="0"/>
                        <a:cs typeface="Calibri" charset="0"/>
                      </a:endParaRPr>
                    </a:p>
                  </a:txBody>
                  <a:tcPr marL="27432" marR="27432" marT="27432" marB="27432">
                    <a:lnL w="6350" cap="flat" cmpd="sng" algn="ctr">
                      <a:solidFill>
                        <a:srgbClr val="7FA3C0"/>
                      </a:solidFill>
                      <a:prstDash val="solid"/>
                      <a:round/>
                      <a:headEnd type="none" w="med" len="med"/>
                      <a:tailEnd type="none" w="med" len="med"/>
                    </a:lnL>
                    <a:lnR w="6350" cap="flat" cmpd="sng" algn="ctr">
                      <a:solidFill>
                        <a:srgbClr val="7FA3C0"/>
                      </a:solidFill>
                      <a:prstDash val="solid"/>
                      <a:round/>
                      <a:headEnd type="none" w="med" len="med"/>
                      <a:tailEnd type="none" w="med" len="med"/>
                    </a:lnR>
                    <a:lnT w="6350" cap="flat" cmpd="sng" algn="ctr">
                      <a:solidFill>
                        <a:srgbClr val="7FA3C0"/>
                      </a:solidFill>
                      <a:prstDash val="solid"/>
                      <a:round/>
                      <a:headEnd type="none" w="med" len="med"/>
                      <a:tailEnd type="none" w="med" len="med"/>
                    </a:lnT>
                    <a:lnB w="6350" cap="flat" cmpd="sng" algn="ctr">
                      <a:solidFill>
                        <a:srgbClr val="7FA3C0"/>
                      </a:solidFill>
                      <a:prstDash val="solid"/>
                      <a:round/>
                      <a:headEnd type="none" w="med" len="med"/>
                      <a:tailEnd type="none" w="med" len="med"/>
                    </a:lnB>
                    <a:solidFill>
                      <a:srgbClr val="12304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Ripple</a:t>
                      </a:r>
                      <a:endParaRPr lang="en-US" sz="1400" dirty="0">
                        <a:latin typeface="Calibri" charset="0"/>
                        <a:ea typeface="Calibri" charset="0"/>
                        <a:cs typeface="Calibri" charset="0"/>
                      </a:endParaRPr>
                    </a:p>
                  </a:txBody>
                  <a:tcPr marL="27432" marR="27432" marT="27432" marB="27432">
                    <a:lnL w="6350" cap="flat" cmpd="sng" algn="ctr">
                      <a:solidFill>
                        <a:srgbClr val="7FA3C0"/>
                      </a:solidFill>
                      <a:prstDash val="solid"/>
                      <a:round/>
                      <a:headEnd type="none" w="med" len="med"/>
                      <a:tailEnd type="none" w="med" len="med"/>
                    </a:lnL>
                    <a:lnR w="6350" cap="flat" cmpd="sng" algn="ctr">
                      <a:solidFill>
                        <a:srgbClr val="7FA3C0"/>
                      </a:solidFill>
                      <a:prstDash val="solid"/>
                      <a:round/>
                      <a:headEnd type="none" w="med" len="med"/>
                      <a:tailEnd type="none" w="med" len="med"/>
                    </a:lnR>
                    <a:lnT w="6350" cap="flat" cmpd="sng" algn="ctr">
                      <a:solidFill>
                        <a:srgbClr val="7FA3C0"/>
                      </a:solidFill>
                      <a:prstDash val="solid"/>
                      <a:round/>
                      <a:headEnd type="none" w="med" len="med"/>
                      <a:tailEnd type="none" w="med" len="med"/>
                    </a:lnT>
                    <a:lnB w="6350" cap="flat" cmpd="sng" algn="ctr">
                      <a:solidFill>
                        <a:srgbClr val="7FA3C0"/>
                      </a:solidFill>
                      <a:prstDash val="solid"/>
                      <a:round/>
                      <a:headEnd type="none" w="med" len="med"/>
                      <a:tailEnd type="none" w="med" len="med"/>
                    </a:lnB>
                    <a:solidFill>
                      <a:srgbClr val="12304D"/>
                    </a:solidFill>
                  </a:tcPr>
                </a:tc>
              </a:tr>
              <a:tr h="347472">
                <a:tc>
                  <a:txBody>
                    <a:bodyPr/>
                    <a:lstStyle/>
                    <a:p>
                      <a:pPr algn="ctr" indent="0" marL="0">
                        <a:buNone/>
                      </a:pPr>
                      <a:r>
                        <a:rPr lang="en-US" sz="1400" dirty="0">
                          <a:solidFill>
                            <a:srgbClr val="0B1F33"/>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27432" marR="27432" marT="27432" marB="27432">
                    <a:lnL w="6350" cap="flat" cmpd="sng" algn="ctr">
                      <a:solidFill>
                        <a:srgbClr val="7FA3C0"/>
                      </a:solidFill>
                      <a:prstDash val="solid"/>
                      <a:round/>
                      <a:headEnd type="none" w="med" len="med"/>
                      <a:tailEnd type="none" w="med" len="med"/>
                    </a:lnL>
                    <a:lnR w="6350" cap="flat" cmpd="sng" algn="ctr">
                      <a:solidFill>
                        <a:srgbClr val="7FA3C0"/>
                      </a:solidFill>
                      <a:prstDash val="solid"/>
                      <a:round/>
                      <a:headEnd type="none" w="med" len="med"/>
                      <a:tailEnd type="none" w="med" len="med"/>
                    </a:lnR>
                    <a:lnT w="6350" cap="flat" cmpd="sng" algn="ctr">
                      <a:solidFill>
                        <a:srgbClr val="7FA3C0"/>
                      </a:solidFill>
                      <a:prstDash val="solid"/>
                      <a:round/>
                      <a:headEnd type="none" w="med" len="med"/>
                      <a:tailEnd type="none" w="med" len="med"/>
                    </a:lnT>
                    <a:lnB w="6350" cap="flat" cmpd="sng" algn="ctr">
                      <a:solidFill>
                        <a:srgbClr val="7FA3C0"/>
                      </a:solidFill>
                      <a:prstDash val="solid"/>
                      <a:round/>
                      <a:headEnd type="none" w="med" len="med"/>
                      <a:tailEnd type="none" w="med" len="med"/>
                    </a:lnB>
                    <a:solidFill>
                      <a:srgbClr val="EAF1F6"/>
                    </a:solidFill>
                  </a:tcPr>
                </a:tc>
                <a:tc>
                  <a:txBody>
                    <a:bodyPr/>
                    <a:lstStyle/>
                    <a:p>
                      <a:pPr algn="ctr" indent="0" marL="0">
                        <a:buNone/>
                      </a:pPr>
                      <a:r>
                        <a:rPr lang="en-US" sz="1400" dirty="0">
                          <a:solidFill>
                            <a:srgbClr val="0B1F33"/>
                          </a:solidFill>
                          <a:latin typeface="Calibri" pitchFamily="34" charset="0"/>
                          <a:ea typeface="Calibri" pitchFamily="34" charset="-122"/>
                          <a:cs typeface="Calibri" pitchFamily="34" charset="-120"/>
                        </a:rPr>
                        <a:t>0.56 A</a:t>
                      </a:r>
                      <a:endParaRPr lang="en-US" sz="1400" dirty="0">
                        <a:latin typeface="Calibri" charset="0"/>
                        <a:ea typeface="Calibri" charset="0"/>
                        <a:cs typeface="Calibri" charset="0"/>
                      </a:endParaRPr>
                    </a:p>
                  </a:txBody>
                  <a:tcPr marL="27432" marR="27432" marT="27432" marB="27432">
                    <a:lnL w="6350" cap="flat" cmpd="sng" algn="ctr">
                      <a:solidFill>
                        <a:srgbClr val="7FA3C0"/>
                      </a:solidFill>
                      <a:prstDash val="solid"/>
                      <a:round/>
                      <a:headEnd type="none" w="med" len="med"/>
                      <a:tailEnd type="none" w="med" len="med"/>
                    </a:lnL>
                    <a:lnR w="6350" cap="flat" cmpd="sng" algn="ctr">
                      <a:solidFill>
                        <a:srgbClr val="7FA3C0"/>
                      </a:solidFill>
                      <a:prstDash val="solid"/>
                      <a:round/>
                      <a:headEnd type="none" w="med" len="med"/>
                      <a:tailEnd type="none" w="med" len="med"/>
                    </a:lnR>
                    <a:lnT w="6350" cap="flat" cmpd="sng" algn="ctr">
                      <a:solidFill>
                        <a:srgbClr val="7FA3C0"/>
                      </a:solidFill>
                      <a:prstDash val="solid"/>
                      <a:round/>
                      <a:headEnd type="none" w="med" len="med"/>
                      <a:tailEnd type="none" w="med" len="med"/>
                    </a:lnT>
                    <a:lnB w="6350" cap="flat" cmpd="sng" algn="ctr">
                      <a:solidFill>
                        <a:srgbClr val="7FA3C0"/>
                      </a:solidFill>
                      <a:prstDash val="solid"/>
                      <a:round/>
                      <a:headEnd type="none" w="med" len="med"/>
                      <a:tailEnd type="none" w="med" len="med"/>
                    </a:lnB>
                    <a:solidFill>
                      <a:srgbClr val="EAF1F6"/>
                    </a:solidFill>
                  </a:tcPr>
                </a:tc>
                <a:tc>
                  <a:txBody>
                    <a:bodyPr/>
                    <a:lstStyle/>
                    <a:p>
                      <a:pPr algn="ctr" indent="0" marL="0">
                        <a:buNone/>
                      </a:pPr>
                      <a:r>
                        <a:rPr lang="en-US" sz="1400" dirty="0">
                          <a:solidFill>
                            <a:srgbClr val="0B1F33"/>
                          </a:solidFill>
                          <a:latin typeface="Calibri" pitchFamily="34" charset="0"/>
                          <a:ea typeface="Calibri" pitchFamily="34" charset="-122"/>
                          <a:cs typeface="Calibri" pitchFamily="34" charset="-120"/>
                        </a:rPr>
                        <a:t>0.194 ± 0.00 A</a:t>
                      </a:r>
                      <a:endParaRPr lang="en-US" sz="1400" dirty="0">
                        <a:latin typeface="Calibri" charset="0"/>
                        <a:ea typeface="Calibri" charset="0"/>
                        <a:cs typeface="Calibri" charset="0"/>
                      </a:endParaRPr>
                    </a:p>
                  </a:txBody>
                  <a:tcPr marL="27432" marR="27432" marT="27432" marB="27432">
                    <a:lnL w="6350" cap="flat" cmpd="sng" algn="ctr">
                      <a:solidFill>
                        <a:srgbClr val="7FA3C0"/>
                      </a:solidFill>
                      <a:prstDash val="solid"/>
                      <a:round/>
                      <a:headEnd type="none" w="med" len="med"/>
                      <a:tailEnd type="none" w="med" len="med"/>
                    </a:lnL>
                    <a:lnR w="6350" cap="flat" cmpd="sng" algn="ctr">
                      <a:solidFill>
                        <a:srgbClr val="7FA3C0"/>
                      </a:solidFill>
                      <a:prstDash val="solid"/>
                      <a:round/>
                      <a:headEnd type="none" w="med" len="med"/>
                      <a:tailEnd type="none" w="med" len="med"/>
                    </a:lnR>
                    <a:lnT w="6350" cap="flat" cmpd="sng" algn="ctr">
                      <a:solidFill>
                        <a:srgbClr val="7FA3C0"/>
                      </a:solidFill>
                      <a:prstDash val="solid"/>
                      <a:round/>
                      <a:headEnd type="none" w="med" len="med"/>
                      <a:tailEnd type="none" w="med" len="med"/>
                    </a:lnT>
                    <a:lnB w="6350" cap="flat" cmpd="sng" algn="ctr">
                      <a:solidFill>
                        <a:srgbClr val="7FA3C0"/>
                      </a:solidFill>
                      <a:prstDash val="solid"/>
                      <a:round/>
                      <a:headEnd type="none" w="med" len="med"/>
                      <a:tailEnd type="none" w="med" len="med"/>
                    </a:lnB>
                    <a:solidFill>
                      <a:srgbClr val="EAF1F6"/>
                    </a:solidFill>
                  </a:tcPr>
                </a:tc>
                <a:tc>
                  <a:txBody>
                    <a:bodyPr/>
                    <a:lstStyle/>
                    <a:p>
                      <a:pPr algn="ctr" indent="0" marL="0">
                        <a:buNone/>
                      </a:pPr>
                      <a:r>
                        <a:rPr lang="en-US" sz="1400" dirty="0">
                          <a:solidFill>
                            <a:srgbClr val="0B1F33"/>
                          </a:solidFill>
                          <a:latin typeface="Calibri" pitchFamily="34" charset="0"/>
                          <a:ea typeface="Calibri" pitchFamily="34" charset="-122"/>
                          <a:cs typeface="Calibri" pitchFamily="34" charset="-120"/>
                        </a:rPr>
                        <a:t>±0.00 A</a:t>
                      </a:r>
                      <a:endParaRPr lang="en-US" sz="1400" dirty="0">
                        <a:latin typeface="Calibri" charset="0"/>
                        <a:ea typeface="Calibri" charset="0"/>
                        <a:cs typeface="Calibri" charset="0"/>
                      </a:endParaRPr>
                    </a:p>
                  </a:txBody>
                  <a:tcPr marL="27432" marR="27432" marT="27432" marB="27432">
                    <a:lnL w="6350" cap="flat" cmpd="sng" algn="ctr">
                      <a:solidFill>
                        <a:srgbClr val="7FA3C0"/>
                      </a:solidFill>
                      <a:prstDash val="solid"/>
                      <a:round/>
                      <a:headEnd type="none" w="med" len="med"/>
                      <a:tailEnd type="none" w="med" len="med"/>
                    </a:lnL>
                    <a:lnR w="6350" cap="flat" cmpd="sng" algn="ctr">
                      <a:solidFill>
                        <a:srgbClr val="7FA3C0"/>
                      </a:solidFill>
                      <a:prstDash val="solid"/>
                      <a:round/>
                      <a:headEnd type="none" w="med" len="med"/>
                      <a:tailEnd type="none" w="med" len="med"/>
                    </a:lnR>
                    <a:lnT w="6350" cap="flat" cmpd="sng" algn="ctr">
                      <a:solidFill>
                        <a:srgbClr val="7FA3C0"/>
                      </a:solidFill>
                      <a:prstDash val="solid"/>
                      <a:round/>
                      <a:headEnd type="none" w="med" len="med"/>
                      <a:tailEnd type="none" w="med" len="med"/>
                    </a:lnT>
                    <a:lnB w="6350" cap="flat" cmpd="sng" algn="ctr">
                      <a:solidFill>
                        <a:srgbClr val="7FA3C0"/>
                      </a:solidFill>
                      <a:prstDash val="solid"/>
                      <a:round/>
                      <a:headEnd type="none" w="med" len="med"/>
                      <a:tailEnd type="none" w="med" len="med"/>
                    </a:lnB>
                    <a:solidFill>
                      <a:srgbClr val="EAF1F6"/>
                    </a:solidFill>
                  </a:tcPr>
                </a:tc>
              </a:tr>
              <a:tr h="347472">
                <a:tc>
                  <a:txBody>
                    <a:bodyPr/>
                    <a:lstStyle/>
                    <a:p>
                      <a:pPr algn="ctr" indent="0" marL="0">
                        <a:buNone/>
                      </a:pPr>
                      <a:r>
                        <a:rPr lang="en-US" sz="1400" dirty="0">
                          <a:solidFill>
                            <a:srgbClr val="0B1F33"/>
                          </a:solidFill>
                          <a:latin typeface="Calibri" pitchFamily="34" charset="0"/>
                          <a:ea typeface="Calibri" pitchFamily="34" charset="-122"/>
                          <a:cs typeface="Calibri" pitchFamily="34" charset="-120"/>
                        </a:rPr>
                        <a:t>75%</a:t>
                      </a:r>
                      <a:endParaRPr lang="en-US" sz="1400" dirty="0">
                        <a:latin typeface="Calibri" charset="0"/>
                        <a:ea typeface="Calibri" charset="0"/>
                        <a:cs typeface="Calibri" charset="0"/>
                      </a:endParaRPr>
                    </a:p>
                  </a:txBody>
                  <a:tcPr marL="27432" marR="27432" marT="27432" marB="27432">
                    <a:lnL w="6350" cap="flat" cmpd="sng" algn="ctr">
                      <a:solidFill>
                        <a:srgbClr val="7FA3C0"/>
                      </a:solidFill>
                      <a:prstDash val="solid"/>
                      <a:round/>
                      <a:headEnd type="none" w="med" len="med"/>
                      <a:tailEnd type="none" w="med" len="med"/>
                    </a:lnL>
                    <a:lnR w="6350" cap="flat" cmpd="sng" algn="ctr">
                      <a:solidFill>
                        <a:srgbClr val="7FA3C0"/>
                      </a:solidFill>
                      <a:prstDash val="solid"/>
                      <a:round/>
                      <a:headEnd type="none" w="med" len="med"/>
                      <a:tailEnd type="none" w="med" len="med"/>
                    </a:lnR>
                    <a:lnT w="6350" cap="flat" cmpd="sng" algn="ctr">
                      <a:solidFill>
                        <a:srgbClr val="7FA3C0"/>
                      </a:solidFill>
                      <a:prstDash val="solid"/>
                      <a:round/>
                      <a:headEnd type="none" w="med" len="med"/>
                      <a:tailEnd type="none" w="med" len="med"/>
                    </a:lnT>
                    <a:lnB w="6350" cap="flat" cmpd="sng" algn="ctr">
                      <a:solidFill>
                        <a:srgbClr val="7FA3C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B1F33"/>
                          </a:solidFill>
                          <a:latin typeface="Calibri" pitchFamily="34" charset="0"/>
                          <a:ea typeface="Calibri" pitchFamily="34" charset="-122"/>
                          <a:cs typeface="Calibri" pitchFamily="34" charset="-120"/>
                        </a:rPr>
                        <a:t>0.38 A</a:t>
                      </a:r>
                      <a:endParaRPr lang="en-US" sz="1400" dirty="0">
                        <a:latin typeface="Calibri" charset="0"/>
                        <a:ea typeface="Calibri" charset="0"/>
                        <a:cs typeface="Calibri" charset="0"/>
                      </a:endParaRPr>
                    </a:p>
                  </a:txBody>
                  <a:tcPr marL="27432" marR="27432" marT="27432" marB="27432">
                    <a:lnL w="6350" cap="flat" cmpd="sng" algn="ctr">
                      <a:solidFill>
                        <a:srgbClr val="7FA3C0"/>
                      </a:solidFill>
                      <a:prstDash val="solid"/>
                      <a:round/>
                      <a:headEnd type="none" w="med" len="med"/>
                      <a:tailEnd type="none" w="med" len="med"/>
                    </a:lnL>
                    <a:lnR w="6350" cap="flat" cmpd="sng" algn="ctr">
                      <a:solidFill>
                        <a:srgbClr val="7FA3C0"/>
                      </a:solidFill>
                      <a:prstDash val="solid"/>
                      <a:round/>
                      <a:headEnd type="none" w="med" len="med"/>
                      <a:tailEnd type="none" w="med" len="med"/>
                    </a:lnR>
                    <a:lnT w="6350" cap="flat" cmpd="sng" algn="ctr">
                      <a:solidFill>
                        <a:srgbClr val="7FA3C0"/>
                      </a:solidFill>
                      <a:prstDash val="solid"/>
                      <a:round/>
                      <a:headEnd type="none" w="med" len="med"/>
                      <a:tailEnd type="none" w="med" len="med"/>
                    </a:lnT>
                    <a:lnB w="6350" cap="flat" cmpd="sng" algn="ctr">
                      <a:solidFill>
                        <a:srgbClr val="7FA3C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B1F33"/>
                          </a:solidFill>
                          <a:latin typeface="Calibri" pitchFamily="34" charset="0"/>
                          <a:ea typeface="Calibri" pitchFamily="34" charset="-122"/>
                          <a:cs typeface="Calibri" pitchFamily="34" charset="-120"/>
                        </a:rPr>
                        <a:t>0.15 ± 0.04 A</a:t>
                      </a:r>
                      <a:endParaRPr lang="en-US" sz="1400" dirty="0">
                        <a:latin typeface="Calibri" charset="0"/>
                        <a:ea typeface="Calibri" charset="0"/>
                        <a:cs typeface="Calibri" charset="0"/>
                      </a:endParaRPr>
                    </a:p>
                  </a:txBody>
                  <a:tcPr marL="27432" marR="27432" marT="27432" marB="27432">
                    <a:lnL w="6350" cap="flat" cmpd="sng" algn="ctr">
                      <a:solidFill>
                        <a:srgbClr val="7FA3C0"/>
                      </a:solidFill>
                      <a:prstDash val="solid"/>
                      <a:round/>
                      <a:headEnd type="none" w="med" len="med"/>
                      <a:tailEnd type="none" w="med" len="med"/>
                    </a:lnL>
                    <a:lnR w="6350" cap="flat" cmpd="sng" algn="ctr">
                      <a:solidFill>
                        <a:srgbClr val="7FA3C0"/>
                      </a:solidFill>
                      <a:prstDash val="solid"/>
                      <a:round/>
                      <a:headEnd type="none" w="med" len="med"/>
                      <a:tailEnd type="none" w="med" len="med"/>
                    </a:lnR>
                    <a:lnT w="6350" cap="flat" cmpd="sng" algn="ctr">
                      <a:solidFill>
                        <a:srgbClr val="7FA3C0"/>
                      </a:solidFill>
                      <a:prstDash val="solid"/>
                      <a:round/>
                      <a:headEnd type="none" w="med" len="med"/>
                      <a:tailEnd type="none" w="med" len="med"/>
                    </a:lnT>
                    <a:lnB w="6350" cap="flat" cmpd="sng" algn="ctr">
                      <a:solidFill>
                        <a:srgbClr val="7FA3C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B1F33"/>
                          </a:solidFill>
                          <a:latin typeface="Calibri" pitchFamily="34" charset="0"/>
                          <a:ea typeface="Calibri" pitchFamily="34" charset="-122"/>
                          <a:cs typeface="Calibri" pitchFamily="34" charset="-120"/>
                        </a:rPr>
                        <a:t>±0.10 A</a:t>
                      </a:r>
                      <a:endParaRPr lang="en-US" sz="1400" dirty="0">
                        <a:latin typeface="Calibri" charset="0"/>
                        <a:ea typeface="Calibri" charset="0"/>
                        <a:cs typeface="Calibri" charset="0"/>
                      </a:endParaRPr>
                    </a:p>
                  </a:txBody>
                  <a:tcPr marL="27432" marR="27432" marT="27432" marB="27432">
                    <a:lnL w="6350" cap="flat" cmpd="sng" algn="ctr">
                      <a:solidFill>
                        <a:srgbClr val="7FA3C0"/>
                      </a:solidFill>
                      <a:prstDash val="solid"/>
                      <a:round/>
                      <a:headEnd type="none" w="med" len="med"/>
                      <a:tailEnd type="none" w="med" len="med"/>
                    </a:lnL>
                    <a:lnR w="6350" cap="flat" cmpd="sng" algn="ctr">
                      <a:solidFill>
                        <a:srgbClr val="7FA3C0"/>
                      </a:solidFill>
                      <a:prstDash val="solid"/>
                      <a:round/>
                      <a:headEnd type="none" w="med" len="med"/>
                      <a:tailEnd type="none" w="med" len="med"/>
                    </a:lnR>
                    <a:lnT w="6350" cap="flat" cmpd="sng" algn="ctr">
                      <a:solidFill>
                        <a:srgbClr val="7FA3C0"/>
                      </a:solidFill>
                      <a:prstDash val="solid"/>
                      <a:round/>
                      <a:headEnd type="none" w="med" len="med"/>
                      <a:tailEnd type="none" w="med" len="med"/>
                    </a:lnT>
                    <a:lnB w="6350" cap="flat" cmpd="sng" algn="ctr">
                      <a:solidFill>
                        <a:srgbClr val="7FA3C0"/>
                      </a:solidFill>
                      <a:prstDash val="solid"/>
                      <a:round/>
                      <a:headEnd type="none" w="med" len="med"/>
                      <a:tailEnd type="none" w="med" len="med"/>
                    </a:lnB>
                    <a:solidFill>
                      <a:srgbClr val="FFFFFF"/>
                    </a:solidFill>
                  </a:tcPr>
                </a:tc>
              </a:tr>
              <a:tr h="347472">
                <a:tc>
                  <a:txBody>
                    <a:bodyPr/>
                    <a:lstStyle/>
                    <a:p>
                      <a:pPr algn="ctr" indent="0" marL="0">
                        <a:buNone/>
                      </a:pPr>
                      <a:r>
                        <a:rPr lang="en-US" sz="1400" dirty="0">
                          <a:solidFill>
                            <a:srgbClr val="0B1F33"/>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27432" marR="27432" marT="27432" marB="27432">
                    <a:lnL w="6350" cap="flat" cmpd="sng" algn="ctr">
                      <a:solidFill>
                        <a:srgbClr val="7FA3C0"/>
                      </a:solidFill>
                      <a:prstDash val="solid"/>
                      <a:round/>
                      <a:headEnd type="none" w="med" len="med"/>
                      <a:tailEnd type="none" w="med" len="med"/>
                    </a:lnL>
                    <a:lnR w="6350" cap="flat" cmpd="sng" algn="ctr">
                      <a:solidFill>
                        <a:srgbClr val="7FA3C0"/>
                      </a:solidFill>
                      <a:prstDash val="solid"/>
                      <a:round/>
                      <a:headEnd type="none" w="med" len="med"/>
                      <a:tailEnd type="none" w="med" len="med"/>
                    </a:lnR>
                    <a:lnT w="6350" cap="flat" cmpd="sng" algn="ctr">
                      <a:solidFill>
                        <a:srgbClr val="7FA3C0"/>
                      </a:solidFill>
                      <a:prstDash val="solid"/>
                      <a:round/>
                      <a:headEnd type="none" w="med" len="med"/>
                      <a:tailEnd type="none" w="med" len="med"/>
                    </a:lnT>
                    <a:lnB w="6350" cap="flat" cmpd="sng" algn="ctr">
                      <a:solidFill>
                        <a:srgbClr val="7FA3C0"/>
                      </a:solidFill>
                      <a:prstDash val="solid"/>
                      <a:round/>
                      <a:headEnd type="none" w="med" len="med"/>
                      <a:tailEnd type="none" w="med" len="med"/>
                    </a:lnB>
                    <a:solidFill>
                      <a:srgbClr val="EAF1F6"/>
                    </a:solidFill>
                  </a:tcPr>
                </a:tc>
                <a:tc>
                  <a:txBody>
                    <a:bodyPr/>
                    <a:lstStyle/>
                    <a:p>
                      <a:pPr algn="ctr" indent="0" marL="0">
                        <a:buNone/>
                      </a:pPr>
                      <a:r>
                        <a:rPr lang="en-US" sz="1400" dirty="0">
                          <a:solidFill>
                            <a:srgbClr val="0B1F33"/>
                          </a:solidFill>
                          <a:latin typeface="Calibri" pitchFamily="34" charset="0"/>
                          <a:ea typeface="Calibri" pitchFamily="34" charset="-122"/>
                          <a:cs typeface="Calibri" pitchFamily="34" charset="-120"/>
                        </a:rPr>
                        <a:t>0.27 A</a:t>
                      </a:r>
                      <a:endParaRPr lang="en-US" sz="1400" dirty="0">
                        <a:latin typeface="Calibri" charset="0"/>
                        <a:ea typeface="Calibri" charset="0"/>
                        <a:cs typeface="Calibri" charset="0"/>
                      </a:endParaRPr>
                    </a:p>
                  </a:txBody>
                  <a:tcPr marL="27432" marR="27432" marT="27432" marB="27432">
                    <a:lnL w="6350" cap="flat" cmpd="sng" algn="ctr">
                      <a:solidFill>
                        <a:srgbClr val="7FA3C0"/>
                      </a:solidFill>
                      <a:prstDash val="solid"/>
                      <a:round/>
                      <a:headEnd type="none" w="med" len="med"/>
                      <a:tailEnd type="none" w="med" len="med"/>
                    </a:lnL>
                    <a:lnR w="6350" cap="flat" cmpd="sng" algn="ctr">
                      <a:solidFill>
                        <a:srgbClr val="7FA3C0"/>
                      </a:solidFill>
                      <a:prstDash val="solid"/>
                      <a:round/>
                      <a:headEnd type="none" w="med" len="med"/>
                      <a:tailEnd type="none" w="med" len="med"/>
                    </a:lnR>
                    <a:lnT w="6350" cap="flat" cmpd="sng" algn="ctr">
                      <a:solidFill>
                        <a:srgbClr val="7FA3C0"/>
                      </a:solidFill>
                      <a:prstDash val="solid"/>
                      <a:round/>
                      <a:headEnd type="none" w="med" len="med"/>
                      <a:tailEnd type="none" w="med" len="med"/>
                    </a:lnT>
                    <a:lnB w="6350" cap="flat" cmpd="sng" algn="ctr">
                      <a:solidFill>
                        <a:srgbClr val="7FA3C0"/>
                      </a:solidFill>
                      <a:prstDash val="solid"/>
                      <a:round/>
                      <a:headEnd type="none" w="med" len="med"/>
                      <a:tailEnd type="none" w="med" len="med"/>
                    </a:lnB>
                    <a:solidFill>
                      <a:srgbClr val="EAF1F6"/>
                    </a:solidFill>
                  </a:tcPr>
                </a:tc>
                <a:tc>
                  <a:txBody>
                    <a:bodyPr/>
                    <a:lstStyle/>
                    <a:p>
                      <a:pPr algn="ctr" indent="0" marL="0">
                        <a:buNone/>
                      </a:pPr>
                      <a:r>
                        <a:rPr lang="en-US" sz="1400" dirty="0">
                          <a:solidFill>
                            <a:srgbClr val="0B1F33"/>
                          </a:solidFill>
                          <a:latin typeface="Calibri" pitchFamily="34" charset="0"/>
                          <a:ea typeface="Calibri" pitchFamily="34" charset="-122"/>
                          <a:cs typeface="Calibri" pitchFamily="34" charset="-120"/>
                        </a:rPr>
                        <a:t>0.10 ± 0.03 A</a:t>
                      </a:r>
                      <a:endParaRPr lang="en-US" sz="1400" dirty="0">
                        <a:latin typeface="Calibri" charset="0"/>
                        <a:ea typeface="Calibri" charset="0"/>
                        <a:cs typeface="Calibri" charset="0"/>
                      </a:endParaRPr>
                    </a:p>
                  </a:txBody>
                  <a:tcPr marL="27432" marR="27432" marT="27432" marB="27432">
                    <a:lnL w="6350" cap="flat" cmpd="sng" algn="ctr">
                      <a:solidFill>
                        <a:srgbClr val="7FA3C0"/>
                      </a:solidFill>
                      <a:prstDash val="solid"/>
                      <a:round/>
                      <a:headEnd type="none" w="med" len="med"/>
                      <a:tailEnd type="none" w="med" len="med"/>
                    </a:lnL>
                    <a:lnR w="6350" cap="flat" cmpd="sng" algn="ctr">
                      <a:solidFill>
                        <a:srgbClr val="7FA3C0"/>
                      </a:solidFill>
                      <a:prstDash val="solid"/>
                      <a:round/>
                      <a:headEnd type="none" w="med" len="med"/>
                      <a:tailEnd type="none" w="med" len="med"/>
                    </a:lnR>
                    <a:lnT w="6350" cap="flat" cmpd="sng" algn="ctr">
                      <a:solidFill>
                        <a:srgbClr val="7FA3C0"/>
                      </a:solidFill>
                      <a:prstDash val="solid"/>
                      <a:round/>
                      <a:headEnd type="none" w="med" len="med"/>
                      <a:tailEnd type="none" w="med" len="med"/>
                    </a:lnT>
                    <a:lnB w="6350" cap="flat" cmpd="sng" algn="ctr">
                      <a:solidFill>
                        <a:srgbClr val="7FA3C0"/>
                      </a:solidFill>
                      <a:prstDash val="solid"/>
                      <a:round/>
                      <a:headEnd type="none" w="med" len="med"/>
                      <a:tailEnd type="none" w="med" len="med"/>
                    </a:lnB>
                    <a:solidFill>
                      <a:srgbClr val="EAF1F6"/>
                    </a:solidFill>
                  </a:tcPr>
                </a:tc>
                <a:tc>
                  <a:txBody>
                    <a:bodyPr/>
                    <a:lstStyle/>
                    <a:p>
                      <a:pPr algn="ctr" indent="0" marL="0">
                        <a:buNone/>
                      </a:pPr>
                      <a:r>
                        <a:rPr lang="en-US" sz="1400" dirty="0">
                          <a:solidFill>
                            <a:srgbClr val="0B1F33"/>
                          </a:solidFill>
                          <a:latin typeface="Calibri" pitchFamily="34" charset="0"/>
                          <a:ea typeface="Calibri" pitchFamily="34" charset="-122"/>
                          <a:cs typeface="Calibri" pitchFamily="34" charset="-120"/>
                        </a:rPr>
                        <a:t>±0.10 A</a:t>
                      </a:r>
                      <a:endParaRPr lang="en-US" sz="1400" dirty="0">
                        <a:latin typeface="Calibri" charset="0"/>
                        <a:ea typeface="Calibri" charset="0"/>
                        <a:cs typeface="Calibri" charset="0"/>
                      </a:endParaRPr>
                    </a:p>
                  </a:txBody>
                  <a:tcPr marL="27432" marR="27432" marT="27432" marB="27432">
                    <a:lnL w="6350" cap="flat" cmpd="sng" algn="ctr">
                      <a:solidFill>
                        <a:srgbClr val="7FA3C0"/>
                      </a:solidFill>
                      <a:prstDash val="solid"/>
                      <a:round/>
                      <a:headEnd type="none" w="med" len="med"/>
                      <a:tailEnd type="none" w="med" len="med"/>
                    </a:lnL>
                    <a:lnR w="6350" cap="flat" cmpd="sng" algn="ctr">
                      <a:solidFill>
                        <a:srgbClr val="7FA3C0"/>
                      </a:solidFill>
                      <a:prstDash val="solid"/>
                      <a:round/>
                      <a:headEnd type="none" w="med" len="med"/>
                      <a:tailEnd type="none" w="med" len="med"/>
                    </a:lnR>
                    <a:lnT w="6350" cap="flat" cmpd="sng" algn="ctr">
                      <a:solidFill>
                        <a:srgbClr val="7FA3C0"/>
                      </a:solidFill>
                      <a:prstDash val="solid"/>
                      <a:round/>
                      <a:headEnd type="none" w="med" len="med"/>
                      <a:tailEnd type="none" w="med" len="med"/>
                    </a:lnT>
                    <a:lnB w="6350" cap="flat" cmpd="sng" algn="ctr">
                      <a:solidFill>
                        <a:srgbClr val="7FA3C0"/>
                      </a:solidFill>
                      <a:prstDash val="solid"/>
                      <a:round/>
                      <a:headEnd type="none" w="med" len="med"/>
                      <a:tailEnd type="none" w="med" len="med"/>
                    </a:lnB>
                    <a:solidFill>
                      <a:srgbClr val="EAF1F6"/>
                    </a:solidFill>
                  </a:tcPr>
                </a:tc>
              </a:tr>
              <a:tr h="347472">
                <a:tc>
                  <a:txBody>
                    <a:bodyPr/>
                    <a:lstStyle/>
                    <a:p>
                      <a:pPr algn="ctr" indent="0" marL="0">
                        <a:buNone/>
                      </a:pPr>
                      <a:r>
                        <a:rPr lang="en-US" sz="1400" dirty="0">
                          <a:solidFill>
                            <a:srgbClr val="0B1F33"/>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marL="27432" marR="27432" marT="27432" marB="27432">
                    <a:lnL w="6350" cap="flat" cmpd="sng" algn="ctr">
                      <a:solidFill>
                        <a:srgbClr val="7FA3C0"/>
                      </a:solidFill>
                      <a:prstDash val="solid"/>
                      <a:round/>
                      <a:headEnd type="none" w="med" len="med"/>
                      <a:tailEnd type="none" w="med" len="med"/>
                    </a:lnL>
                    <a:lnR w="6350" cap="flat" cmpd="sng" algn="ctr">
                      <a:solidFill>
                        <a:srgbClr val="7FA3C0"/>
                      </a:solidFill>
                      <a:prstDash val="solid"/>
                      <a:round/>
                      <a:headEnd type="none" w="med" len="med"/>
                      <a:tailEnd type="none" w="med" len="med"/>
                    </a:lnR>
                    <a:lnT w="6350" cap="flat" cmpd="sng" algn="ctr">
                      <a:solidFill>
                        <a:srgbClr val="7FA3C0"/>
                      </a:solidFill>
                      <a:prstDash val="solid"/>
                      <a:round/>
                      <a:headEnd type="none" w="med" len="med"/>
                      <a:tailEnd type="none" w="med" len="med"/>
                    </a:lnT>
                    <a:lnB w="6350" cap="flat" cmpd="sng" algn="ctr">
                      <a:solidFill>
                        <a:srgbClr val="7FA3C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B1F33"/>
                          </a:solidFill>
                          <a:latin typeface="Calibri" pitchFamily="34" charset="0"/>
                          <a:ea typeface="Calibri" pitchFamily="34" charset="-122"/>
                          <a:cs typeface="Calibri" pitchFamily="34" charset="-120"/>
                        </a:rPr>
                        <a:t>0.13 A</a:t>
                      </a:r>
                      <a:endParaRPr lang="en-US" sz="1400" dirty="0">
                        <a:latin typeface="Calibri" charset="0"/>
                        <a:ea typeface="Calibri" charset="0"/>
                        <a:cs typeface="Calibri" charset="0"/>
                      </a:endParaRPr>
                    </a:p>
                  </a:txBody>
                  <a:tcPr marL="27432" marR="27432" marT="27432" marB="27432">
                    <a:lnL w="6350" cap="flat" cmpd="sng" algn="ctr">
                      <a:solidFill>
                        <a:srgbClr val="7FA3C0"/>
                      </a:solidFill>
                      <a:prstDash val="solid"/>
                      <a:round/>
                      <a:headEnd type="none" w="med" len="med"/>
                      <a:tailEnd type="none" w="med" len="med"/>
                    </a:lnL>
                    <a:lnR w="6350" cap="flat" cmpd="sng" algn="ctr">
                      <a:solidFill>
                        <a:srgbClr val="7FA3C0"/>
                      </a:solidFill>
                      <a:prstDash val="solid"/>
                      <a:round/>
                      <a:headEnd type="none" w="med" len="med"/>
                      <a:tailEnd type="none" w="med" len="med"/>
                    </a:lnR>
                    <a:lnT w="6350" cap="flat" cmpd="sng" algn="ctr">
                      <a:solidFill>
                        <a:srgbClr val="7FA3C0"/>
                      </a:solidFill>
                      <a:prstDash val="solid"/>
                      <a:round/>
                      <a:headEnd type="none" w="med" len="med"/>
                      <a:tailEnd type="none" w="med" len="med"/>
                    </a:lnT>
                    <a:lnB w="6350" cap="flat" cmpd="sng" algn="ctr">
                      <a:solidFill>
                        <a:srgbClr val="7FA3C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B1F33"/>
                          </a:solidFill>
                          <a:latin typeface="Calibri" pitchFamily="34" charset="0"/>
                          <a:ea typeface="Calibri" pitchFamily="34" charset="-122"/>
                          <a:cs typeface="Calibri" pitchFamily="34" charset="-120"/>
                        </a:rPr>
                        <a:t>0.05 ± 0.02 A</a:t>
                      </a:r>
                      <a:endParaRPr lang="en-US" sz="1400" dirty="0">
                        <a:latin typeface="Calibri" charset="0"/>
                        <a:ea typeface="Calibri" charset="0"/>
                        <a:cs typeface="Calibri" charset="0"/>
                      </a:endParaRPr>
                    </a:p>
                  </a:txBody>
                  <a:tcPr marL="27432" marR="27432" marT="27432" marB="27432">
                    <a:lnL w="6350" cap="flat" cmpd="sng" algn="ctr">
                      <a:solidFill>
                        <a:srgbClr val="7FA3C0"/>
                      </a:solidFill>
                      <a:prstDash val="solid"/>
                      <a:round/>
                      <a:headEnd type="none" w="med" len="med"/>
                      <a:tailEnd type="none" w="med" len="med"/>
                    </a:lnL>
                    <a:lnR w="6350" cap="flat" cmpd="sng" algn="ctr">
                      <a:solidFill>
                        <a:srgbClr val="7FA3C0"/>
                      </a:solidFill>
                      <a:prstDash val="solid"/>
                      <a:round/>
                      <a:headEnd type="none" w="med" len="med"/>
                      <a:tailEnd type="none" w="med" len="med"/>
                    </a:lnR>
                    <a:lnT w="6350" cap="flat" cmpd="sng" algn="ctr">
                      <a:solidFill>
                        <a:srgbClr val="7FA3C0"/>
                      </a:solidFill>
                      <a:prstDash val="solid"/>
                      <a:round/>
                      <a:headEnd type="none" w="med" len="med"/>
                      <a:tailEnd type="none" w="med" len="med"/>
                    </a:lnT>
                    <a:lnB w="6350" cap="flat" cmpd="sng" algn="ctr">
                      <a:solidFill>
                        <a:srgbClr val="7FA3C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B1F33"/>
                          </a:solidFill>
                          <a:latin typeface="Calibri" pitchFamily="34" charset="0"/>
                          <a:ea typeface="Calibri" pitchFamily="34" charset="-122"/>
                          <a:cs typeface="Calibri" pitchFamily="34" charset="-120"/>
                        </a:rPr>
                        <a:t>±0.10 A</a:t>
                      </a:r>
                      <a:endParaRPr lang="en-US" sz="1400" dirty="0">
                        <a:latin typeface="Calibri" charset="0"/>
                        <a:ea typeface="Calibri" charset="0"/>
                        <a:cs typeface="Calibri" charset="0"/>
                      </a:endParaRPr>
                    </a:p>
                  </a:txBody>
                  <a:tcPr marL="27432" marR="27432" marT="27432" marB="27432">
                    <a:lnL w="6350" cap="flat" cmpd="sng" algn="ctr">
                      <a:solidFill>
                        <a:srgbClr val="7FA3C0"/>
                      </a:solidFill>
                      <a:prstDash val="solid"/>
                      <a:round/>
                      <a:headEnd type="none" w="med" len="med"/>
                      <a:tailEnd type="none" w="med" len="med"/>
                    </a:lnL>
                    <a:lnR w="6350" cap="flat" cmpd="sng" algn="ctr">
                      <a:solidFill>
                        <a:srgbClr val="7FA3C0"/>
                      </a:solidFill>
                      <a:prstDash val="solid"/>
                      <a:round/>
                      <a:headEnd type="none" w="med" len="med"/>
                      <a:tailEnd type="none" w="med" len="med"/>
                    </a:lnR>
                    <a:lnT w="6350" cap="flat" cmpd="sng" algn="ctr">
                      <a:solidFill>
                        <a:srgbClr val="7FA3C0"/>
                      </a:solidFill>
                      <a:prstDash val="solid"/>
                      <a:round/>
                      <a:headEnd type="none" w="med" len="med"/>
                      <a:tailEnd type="none" w="med" len="med"/>
                    </a:lnT>
                    <a:lnB w="6350" cap="flat" cmpd="sng" algn="ctr">
                      <a:solidFill>
                        <a:srgbClr val="7FA3C0"/>
                      </a:solidFill>
                      <a:prstDash val="solid"/>
                      <a:round/>
                      <a:headEnd type="none" w="med" len="med"/>
                      <a:tailEnd type="none" w="med" len="med"/>
                    </a:lnB>
                    <a:solidFill>
                      <a:srgbClr val="FFFFFF"/>
                    </a:solidFill>
                  </a:tcPr>
                </a:tc>
              </a:tr>
            </a:tbl>
          </a:graphicData>
        </a:graphic>
      </p:graphicFrame>
      <p:sp>
        <p:nvSpPr>
          <p:cNvPr id="21" name="Text 13"/>
          <p:cNvSpPr txBox="1"/>
          <p:nvPr/>
        </p:nvSpPr>
        <p:spPr>
          <a:xfrm>
            <a:off x="6355080" y="5486400"/>
            <a:ext cx="5303520" cy="8686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1,000,000 frames streamed at 100 kHz; no FIFO overflows</a:t>
            </a:r>
            <a:endParaRPr lang="en-US" sz="1400" dirty="0"/>
          </a:p>
          <a:p>
            <a:pPr marL="342900" indent="-342900">
              <a:spcAft>
                <a:spcPts val="500"/>
              </a:spcAft>
              <a:buSzPct val="100000"/>
              <a:buChar char="•"/>
            </a:pPr>
            <a:r>
              <a:rPr lang="en-US" sz="1400" dirty="0">
                <a:solidFill>
                  <a:schemeClr val="tx1"/>
                </a:solidFill>
              </a:rPr>
              <a:t>Savitzky-Golay filter exposes the DC mean under 10 kHz ripple</a:t>
            </a:r>
            <a:endParaRPr lang="en-US" sz="1400" dirty="0"/>
          </a:p>
          <a:p>
            <a:pPr marL="342900" indent="-342900">
              <a:spcAft>
                <a:spcPts val="500"/>
              </a:spcAft>
              <a:buSzPct val="100000"/>
              <a:buChar char="•"/>
            </a:pPr>
            <a:r>
              <a:rPr lang="en-US" sz="1400" dirty="0">
                <a:solidFill>
                  <a:schemeClr val="tx1"/>
                </a:solidFill>
              </a:rPr>
              <a:t>Rotor inertia low-pass filters speed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Challenges &amp; Solutions</a:t>
            </a:r>
            <a:endParaRPr lang="en-US" sz="3600" dirty="0"/>
          </a:p>
        </p:txBody>
      </p:sp>
      <p:sp>
        <p:nvSpPr>
          <p:cNvPr id="3" name="Text 1"/>
          <p:cNvSpPr txBox="1"/>
          <p:nvPr/>
        </p:nvSpPr>
        <p:spPr>
          <a:xfrm>
            <a:off x="548640" y="1188720"/>
            <a:ext cx="4754880" cy="320040"/>
          </a:xfrm>
          <a:prstGeom prst="rect">
            <a:avLst/>
          </a:prstGeom>
          <a:noFill/>
          <a:ln/>
        </p:spPr>
        <p:txBody>
          <a:bodyPr wrap="square" lIns="0" tIns="0" rIns="0" bIns="0" rtlCol="0" anchor="ctr"/>
          <a:lstStyle/>
          <a:p>
            <a:pPr indent="0" marL="0">
              <a:buNone/>
            </a:pPr>
            <a:r>
              <a:rPr lang="en-US" sz="1200" b="1" spc="200" kern="0" dirty="0">
                <a:solidFill>
                  <a:schemeClr val="accent3"/>
                </a:solidFill>
              </a:rPr>
              <a:t>CHALLENGE</a:t>
            </a:r>
            <a:endParaRPr lang="en-US" sz="1200" dirty="0"/>
          </a:p>
        </p:txBody>
      </p:sp>
      <p:sp>
        <p:nvSpPr>
          <p:cNvPr id="4" name="Text 2"/>
          <p:cNvSpPr txBox="1"/>
          <p:nvPr/>
        </p:nvSpPr>
        <p:spPr>
          <a:xfrm>
            <a:off x="5852160" y="1188720"/>
            <a:ext cx="57607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SOLUTION</a:t>
            </a:r>
            <a:endParaRPr lang="en-US" sz="1200" dirty="0"/>
          </a:p>
        </p:txBody>
      </p:sp>
      <p:sp>
        <p:nvSpPr>
          <p:cNvPr id="5" name="Challenge 1"/>
          <p:cNvSpPr/>
          <p:nvPr/>
        </p:nvSpPr>
        <p:spPr>
          <a:xfrm>
            <a:off x="548640" y="1554480"/>
            <a:ext cx="4846320" cy="658368"/>
          </a:xfrm>
          <a:prstGeom prst="roundRect">
            <a:avLst>
              <a:gd name="adj" fmla="val 16667"/>
            </a:avLst>
          </a:prstGeom>
          <a:solidFill>
            <a:schemeClr val="bg2"/>
          </a:solidFill>
          <a:ln w="12700">
            <a:solidFill>
              <a:schemeClr val="bg2"/>
            </a:solidFill>
            <a:prstDash val="solid"/>
          </a:ln>
        </p:spPr>
      </p:sp>
      <p:sp>
        <p:nvSpPr>
          <p:cNvPr id="6" name="Challenge number 1"/>
          <p:cNvSpPr/>
          <p:nvPr/>
        </p:nvSpPr>
        <p:spPr>
          <a:xfrm>
            <a:off x="658368" y="1673352"/>
            <a:ext cx="420624" cy="420624"/>
          </a:xfrm>
          <a:prstGeom prst="ellipse">
            <a:avLst/>
          </a:prstGeom>
          <a:solidFill>
            <a:schemeClr val="accent6"/>
          </a:solidFill>
          <a:ln w="12700">
            <a:solidFill>
              <a:schemeClr val="accent6"/>
            </a:solidFill>
            <a:prstDash val="solid"/>
          </a:ln>
        </p:spPr>
      </p:sp>
      <p:sp>
        <p:nvSpPr>
          <p:cNvPr id="7" name="Text 5"/>
          <p:cNvSpPr txBox="1"/>
          <p:nvPr/>
        </p:nvSpPr>
        <p:spPr>
          <a:xfrm>
            <a:off x="658368" y="167335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6"/>
          <p:cNvSpPr txBox="1"/>
          <p:nvPr/>
        </p:nvSpPr>
        <p:spPr>
          <a:xfrm>
            <a:off x="1188720" y="1554480"/>
            <a:ext cx="4114800" cy="658368"/>
          </a:xfrm>
          <a:prstGeom prst="rect">
            <a:avLst/>
          </a:prstGeom>
          <a:noFill/>
          <a:ln/>
        </p:spPr>
        <p:txBody>
          <a:bodyPr wrap="square" lIns="0" tIns="0" rIns="0" bIns="0" rtlCol="0" anchor="ctr"/>
          <a:lstStyle/>
          <a:p>
            <a:pPr indent="0" marL="0">
              <a:buNone/>
            </a:pPr>
            <a:r>
              <a:rPr lang="en-US" sz="1400" b="1" dirty="0">
                <a:solidFill>
                  <a:schemeClr val="tx1"/>
                </a:solidFill>
              </a:rPr>
              <a:t>Keeping the model real-time when downstream stalls</a:t>
            </a:r>
            <a:endParaRPr lang="en-US" sz="1400" dirty="0"/>
          </a:p>
        </p:txBody>
      </p:sp>
      <p:sp>
        <p:nvSpPr>
          <p:cNvPr id="9" name="Arrow 1"/>
          <p:cNvSpPr/>
          <p:nvPr/>
        </p:nvSpPr>
        <p:spPr>
          <a:xfrm>
            <a:off x="5440680" y="1883664"/>
            <a:ext cx="365760" cy="0"/>
          </a:xfrm>
          <a:prstGeom prst="line">
            <a:avLst/>
          </a:prstGeom>
          <a:noFill/>
          <a:ln w="25400">
            <a:solidFill>
              <a:schemeClr val="accent3"/>
            </a:solidFill>
            <a:prstDash val="solid"/>
            <a:tailEnd type="triangle"/>
          </a:ln>
        </p:spPr>
      </p:sp>
      <p:sp>
        <p:nvSpPr>
          <p:cNvPr id="10" name="Solution 1"/>
          <p:cNvSpPr/>
          <p:nvPr/>
        </p:nvSpPr>
        <p:spPr>
          <a:xfrm>
            <a:off x="5852160" y="1554480"/>
            <a:ext cx="5760720" cy="658368"/>
          </a:xfrm>
          <a:prstGeom prst="roundRect">
            <a:avLst>
              <a:gd name="adj" fmla="val 16667"/>
            </a:avLst>
          </a:prstGeom>
          <a:solidFill>
            <a:schemeClr val="accent1"/>
          </a:solidFill>
          <a:ln w="12700">
            <a:solidFill>
              <a:schemeClr val="accent1"/>
            </a:solidFill>
            <a:prstDash val="solid"/>
          </a:ln>
        </p:spPr>
      </p:sp>
      <p:sp>
        <p:nvSpPr>
          <p:cNvPr id="11" name="Text 9"/>
          <p:cNvSpPr txBox="1"/>
          <p:nvPr/>
        </p:nvSpPr>
        <p:spPr>
          <a:xfrm>
            <a:off x="6035040" y="1554480"/>
            <a:ext cx="5440680" cy="658368"/>
          </a:xfrm>
          <a:prstGeom prst="rect">
            <a:avLst/>
          </a:prstGeom>
          <a:noFill/>
          <a:ln/>
        </p:spPr>
        <p:txBody>
          <a:bodyPr wrap="square" lIns="0" tIns="0" rIns="0" bIns="0" rtlCol="0" anchor="ctr"/>
          <a:lstStyle/>
          <a:p>
            <a:pPr indent="0" marL="0">
              <a:buNone/>
            </a:pPr>
            <a:r>
              <a:rPr lang="en-US" sz="1400" dirty="0">
                <a:solidFill>
                  <a:schemeClr val="bg1"/>
                </a:solidFill>
              </a:rPr>
              <a:t>Clock-stepping gated by AXI4-Stream back-pressure in the wrapper</a:t>
            </a:r>
            <a:endParaRPr lang="en-US" sz="1400" dirty="0"/>
          </a:p>
        </p:txBody>
      </p:sp>
      <p:sp>
        <p:nvSpPr>
          <p:cNvPr id="12" name="Challenge 2"/>
          <p:cNvSpPr/>
          <p:nvPr/>
        </p:nvSpPr>
        <p:spPr>
          <a:xfrm>
            <a:off x="548640" y="2340864"/>
            <a:ext cx="4846320" cy="658368"/>
          </a:xfrm>
          <a:prstGeom prst="roundRect">
            <a:avLst>
              <a:gd name="adj" fmla="val 16667"/>
            </a:avLst>
          </a:prstGeom>
          <a:solidFill>
            <a:schemeClr val="bg2"/>
          </a:solidFill>
          <a:ln w="12700">
            <a:solidFill>
              <a:schemeClr val="bg2"/>
            </a:solidFill>
            <a:prstDash val="solid"/>
          </a:ln>
        </p:spPr>
      </p:sp>
      <p:sp>
        <p:nvSpPr>
          <p:cNvPr id="13" name="Challenge number 2"/>
          <p:cNvSpPr/>
          <p:nvPr/>
        </p:nvSpPr>
        <p:spPr>
          <a:xfrm>
            <a:off x="658368" y="2459736"/>
            <a:ext cx="420624" cy="420624"/>
          </a:xfrm>
          <a:prstGeom prst="ellipse">
            <a:avLst/>
          </a:prstGeom>
          <a:solidFill>
            <a:schemeClr val="accent6"/>
          </a:solidFill>
          <a:ln w="12700">
            <a:solidFill>
              <a:schemeClr val="accent6"/>
            </a:solidFill>
            <a:prstDash val="solid"/>
          </a:ln>
        </p:spPr>
      </p:sp>
      <p:sp>
        <p:nvSpPr>
          <p:cNvPr id="14" name="Text 12"/>
          <p:cNvSpPr txBox="1"/>
          <p:nvPr/>
        </p:nvSpPr>
        <p:spPr>
          <a:xfrm>
            <a:off x="658368" y="245973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3"/>
          <p:cNvSpPr txBox="1"/>
          <p:nvPr/>
        </p:nvSpPr>
        <p:spPr>
          <a:xfrm>
            <a:off x="1188720" y="2340864"/>
            <a:ext cx="4114800" cy="658368"/>
          </a:xfrm>
          <a:prstGeom prst="rect">
            <a:avLst/>
          </a:prstGeom>
          <a:noFill/>
          <a:ln/>
        </p:spPr>
        <p:txBody>
          <a:bodyPr wrap="square" lIns="0" tIns="0" rIns="0" bIns="0" rtlCol="0" anchor="ctr"/>
          <a:lstStyle/>
          <a:p>
            <a:pPr indent="0" marL="0">
              <a:buNone/>
            </a:pPr>
            <a:r>
              <a:rPr lang="en-US" sz="1400" b="1" dirty="0">
                <a:solidFill>
                  <a:schemeClr val="tx1"/>
                </a:solidFill>
              </a:rPr>
              <a:t>Two variables through a 32-bit DMA path</a:t>
            </a:r>
            <a:endParaRPr lang="en-US" sz="1400" dirty="0"/>
          </a:p>
        </p:txBody>
      </p:sp>
      <p:sp>
        <p:nvSpPr>
          <p:cNvPr id="16" name="Arrow 2"/>
          <p:cNvSpPr/>
          <p:nvPr/>
        </p:nvSpPr>
        <p:spPr>
          <a:xfrm>
            <a:off x="5440680" y="2670048"/>
            <a:ext cx="365760" cy="0"/>
          </a:xfrm>
          <a:prstGeom prst="line">
            <a:avLst/>
          </a:prstGeom>
          <a:noFill/>
          <a:ln w="25400">
            <a:solidFill>
              <a:schemeClr val="accent3"/>
            </a:solidFill>
            <a:prstDash val="solid"/>
            <a:tailEnd type="triangle"/>
          </a:ln>
        </p:spPr>
      </p:sp>
      <p:sp>
        <p:nvSpPr>
          <p:cNvPr id="17" name="Solution 2"/>
          <p:cNvSpPr/>
          <p:nvPr/>
        </p:nvSpPr>
        <p:spPr>
          <a:xfrm>
            <a:off x="5852160" y="2340864"/>
            <a:ext cx="5760720" cy="658368"/>
          </a:xfrm>
          <a:prstGeom prst="roundRect">
            <a:avLst>
              <a:gd name="adj" fmla="val 16667"/>
            </a:avLst>
          </a:prstGeom>
          <a:solidFill>
            <a:schemeClr val="accent1"/>
          </a:solidFill>
          <a:ln w="12700">
            <a:solidFill>
              <a:schemeClr val="accent1"/>
            </a:solidFill>
            <a:prstDash val="solid"/>
          </a:ln>
        </p:spPr>
      </p:sp>
      <p:sp>
        <p:nvSpPr>
          <p:cNvPr id="18" name="Text 16"/>
          <p:cNvSpPr txBox="1"/>
          <p:nvPr/>
        </p:nvSpPr>
        <p:spPr>
          <a:xfrm>
            <a:off x="6035040" y="2340864"/>
            <a:ext cx="5440680" cy="658368"/>
          </a:xfrm>
          <a:prstGeom prst="rect">
            <a:avLst/>
          </a:prstGeom>
          <a:noFill/>
          <a:ln/>
        </p:spPr>
        <p:txBody>
          <a:bodyPr wrap="square" lIns="0" tIns="0" rIns="0" bIns="0" rtlCol="0" anchor="ctr"/>
          <a:lstStyle/>
          <a:p>
            <a:pPr indent="0" marL="0">
              <a:buNone/>
            </a:pPr>
            <a:r>
              <a:rPr lang="en-US" sz="1400" dirty="0">
                <a:solidFill>
                  <a:schemeClr val="bg1"/>
                </a:solidFill>
              </a:rPr>
              <a:t>Packed 16-bit ia and ω into one stream word</a:t>
            </a:r>
            <a:endParaRPr lang="en-US" sz="1400" dirty="0"/>
          </a:p>
        </p:txBody>
      </p:sp>
      <p:sp>
        <p:nvSpPr>
          <p:cNvPr id="19" name="Challenge 3"/>
          <p:cNvSpPr/>
          <p:nvPr/>
        </p:nvSpPr>
        <p:spPr>
          <a:xfrm>
            <a:off x="548640" y="3127248"/>
            <a:ext cx="4846320" cy="658368"/>
          </a:xfrm>
          <a:prstGeom prst="roundRect">
            <a:avLst>
              <a:gd name="adj" fmla="val 16667"/>
            </a:avLst>
          </a:prstGeom>
          <a:solidFill>
            <a:schemeClr val="bg2"/>
          </a:solidFill>
          <a:ln w="12700">
            <a:solidFill>
              <a:schemeClr val="bg2"/>
            </a:solidFill>
            <a:prstDash val="solid"/>
          </a:ln>
        </p:spPr>
      </p:sp>
      <p:sp>
        <p:nvSpPr>
          <p:cNvPr id="20" name="Challenge number 3"/>
          <p:cNvSpPr/>
          <p:nvPr/>
        </p:nvSpPr>
        <p:spPr>
          <a:xfrm>
            <a:off x="658368" y="3246120"/>
            <a:ext cx="420624" cy="420624"/>
          </a:xfrm>
          <a:prstGeom prst="ellipse">
            <a:avLst/>
          </a:prstGeom>
          <a:solidFill>
            <a:schemeClr val="accent6"/>
          </a:solidFill>
          <a:ln w="12700">
            <a:solidFill>
              <a:schemeClr val="accent6"/>
            </a:solidFill>
            <a:prstDash val="solid"/>
          </a:ln>
        </p:spPr>
      </p:sp>
      <p:sp>
        <p:nvSpPr>
          <p:cNvPr id="21" name="Text 19"/>
          <p:cNvSpPr txBox="1"/>
          <p:nvPr/>
        </p:nvSpPr>
        <p:spPr>
          <a:xfrm>
            <a:off x="658368" y="324612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2" name="Text 20"/>
          <p:cNvSpPr txBox="1"/>
          <p:nvPr/>
        </p:nvSpPr>
        <p:spPr>
          <a:xfrm>
            <a:off x="1188720" y="3127248"/>
            <a:ext cx="4114800" cy="658368"/>
          </a:xfrm>
          <a:prstGeom prst="rect">
            <a:avLst/>
          </a:prstGeom>
          <a:noFill/>
          <a:ln/>
        </p:spPr>
        <p:txBody>
          <a:bodyPr wrap="square" lIns="0" tIns="0" rIns="0" bIns="0" rtlCol="0" anchor="ctr"/>
          <a:lstStyle/>
          <a:p>
            <a:pPr indent="0" marL="0">
              <a:buNone/>
            </a:pPr>
            <a:r>
              <a:rPr lang="en-US" sz="1400" b="1" dirty="0">
                <a:solidFill>
                  <a:schemeClr val="tx1"/>
                </a:solidFill>
              </a:rPr>
              <a:t>Software overhead limiting throughput</a:t>
            </a:r>
            <a:endParaRPr lang="en-US" sz="1400" dirty="0"/>
          </a:p>
        </p:txBody>
      </p:sp>
      <p:sp>
        <p:nvSpPr>
          <p:cNvPr id="23" name="Arrow 3"/>
          <p:cNvSpPr/>
          <p:nvPr/>
        </p:nvSpPr>
        <p:spPr>
          <a:xfrm>
            <a:off x="5440680" y="3456432"/>
            <a:ext cx="365760" cy="0"/>
          </a:xfrm>
          <a:prstGeom prst="line">
            <a:avLst/>
          </a:prstGeom>
          <a:noFill/>
          <a:ln w="25400">
            <a:solidFill>
              <a:schemeClr val="accent3"/>
            </a:solidFill>
            <a:prstDash val="solid"/>
            <a:tailEnd type="triangle"/>
          </a:ln>
        </p:spPr>
      </p:sp>
      <p:sp>
        <p:nvSpPr>
          <p:cNvPr id="24" name="Solution 3"/>
          <p:cNvSpPr/>
          <p:nvPr/>
        </p:nvSpPr>
        <p:spPr>
          <a:xfrm>
            <a:off x="5852160" y="3127248"/>
            <a:ext cx="5760720" cy="658368"/>
          </a:xfrm>
          <a:prstGeom prst="roundRect">
            <a:avLst>
              <a:gd name="adj" fmla="val 16667"/>
            </a:avLst>
          </a:prstGeom>
          <a:solidFill>
            <a:schemeClr val="accent1"/>
          </a:solidFill>
          <a:ln w="12700">
            <a:solidFill>
              <a:schemeClr val="accent1"/>
            </a:solidFill>
            <a:prstDash val="solid"/>
          </a:ln>
        </p:spPr>
      </p:sp>
      <p:sp>
        <p:nvSpPr>
          <p:cNvPr id="25" name="Text 23"/>
          <p:cNvSpPr txBox="1"/>
          <p:nvPr/>
        </p:nvSpPr>
        <p:spPr>
          <a:xfrm>
            <a:off x="6035040" y="3127248"/>
            <a:ext cx="5440680" cy="658368"/>
          </a:xfrm>
          <a:prstGeom prst="rect">
            <a:avLst/>
          </a:prstGeom>
          <a:noFill/>
          <a:ln/>
        </p:spPr>
        <p:txBody>
          <a:bodyPr wrap="square" lIns="0" tIns="0" rIns="0" bIns="0" rtlCol="0" anchor="ctr"/>
          <a:lstStyle/>
          <a:p>
            <a:pPr indent="0" marL="0">
              <a:buNone/>
            </a:pPr>
            <a:r>
              <a:rPr lang="en-US" sz="1400" dirty="0">
                <a:solidFill>
                  <a:schemeClr val="bg1"/>
                </a:solidFill>
              </a:rPr>
              <a:t>Bare-metal lwIP, simple DMA transfers, non-cached buffers</a:t>
            </a:r>
            <a:endParaRPr lang="en-US" sz="1400" dirty="0"/>
          </a:p>
        </p:txBody>
      </p:sp>
      <p:sp>
        <p:nvSpPr>
          <p:cNvPr id="26" name="Challenge 4"/>
          <p:cNvSpPr/>
          <p:nvPr/>
        </p:nvSpPr>
        <p:spPr>
          <a:xfrm>
            <a:off x="548640" y="3913632"/>
            <a:ext cx="4846320" cy="658368"/>
          </a:xfrm>
          <a:prstGeom prst="roundRect">
            <a:avLst>
              <a:gd name="adj" fmla="val 16667"/>
            </a:avLst>
          </a:prstGeom>
          <a:solidFill>
            <a:schemeClr val="bg2"/>
          </a:solidFill>
          <a:ln w="12700">
            <a:solidFill>
              <a:schemeClr val="bg2"/>
            </a:solidFill>
            <a:prstDash val="solid"/>
          </a:ln>
        </p:spPr>
      </p:sp>
      <p:sp>
        <p:nvSpPr>
          <p:cNvPr id="27" name="Challenge number 4"/>
          <p:cNvSpPr/>
          <p:nvPr/>
        </p:nvSpPr>
        <p:spPr>
          <a:xfrm>
            <a:off x="658368" y="4032504"/>
            <a:ext cx="420624" cy="420624"/>
          </a:xfrm>
          <a:prstGeom prst="ellipse">
            <a:avLst/>
          </a:prstGeom>
          <a:solidFill>
            <a:schemeClr val="accent6"/>
          </a:solidFill>
          <a:ln w="12700">
            <a:solidFill>
              <a:schemeClr val="accent6"/>
            </a:solidFill>
            <a:prstDash val="solid"/>
          </a:ln>
        </p:spPr>
      </p:sp>
      <p:sp>
        <p:nvSpPr>
          <p:cNvPr id="28" name="Text 26"/>
          <p:cNvSpPr txBox="1"/>
          <p:nvPr/>
        </p:nvSpPr>
        <p:spPr>
          <a:xfrm>
            <a:off x="658368" y="403250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9" name="Text 27"/>
          <p:cNvSpPr txBox="1"/>
          <p:nvPr/>
        </p:nvSpPr>
        <p:spPr>
          <a:xfrm>
            <a:off x="1188720" y="3913632"/>
            <a:ext cx="4114800" cy="658368"/>
          </a:xfrm>
          <a:prstGeom prst="rect">
            <a:avLst/>
          </a:prstGeom>
          <a:noFill/>
          <a:ln/>
        </p:spPr>
        <p:txBody>
          <a:bodyPr wrap="square" lIns="0" tIns="0" rIns="0" bIns="0" rtlCol="0" anchor="ctr"/>
          <a:lstStyle/>
          <a:p>
            <a:pPr indent="0" marL="0">
              <a:buNone/>
            </a:pPr>
            <a:r>
              <a:rPr lang="en-US" sz="1400" b="1" dirty="0">
                <a:solidFill>
                  <a:schemeClr val="tx1"/>
                </a:solidFill>
              </a:rPr>
              <a:t>Bursty data versus network pacing</a:t>
            </a:r>
            <a:endParaRPr lang="en-US" sz="1400" dirty="0"/>
          </a:p>
        </p:txBody>
      </p:sp>
      <p:sp>
        <p:nvSpPr>
          <p:cNvPr id="30" name="Arrow 4"/>
          <p:cNvSpPr/>
          <p:nvPr/>
        </p:nvSpPr>
        <p:spPr>
          <a:xfrm>
            <a:off x="5440680" y="4242816"/>
            <a:ext cx="365760" cy="0"/>
          </a:xfrm>
          <a:prstGeom prst="line">
            <a:avLst/>
          </a:prstGeom>
          <a:noFill/>
          <a:ln w="25400">
            <a:solidFill>
              <a:schemeClr val="accent3"/>
            </a:solidFill>
            <a:prstDash val="solid"/>
            <a:tailEnd type="triangle"/>
          </a:ln>
        </p:spPr>
      </p:sp>
      <p:sp>
        <p:nvSpPr>
          <p:cNvPr id="31" name="Solution 4"/>
          <p:cNvSpPr/>
          <p:nvPr/>
        </p:nvSpPr>
        <p:spPr>
          <a:xfrm>
            <a:off x="5852160" y="3913632"/>
            <a:ext cx="5760720" cy="658368"/>
          </a:xfrm>
          <a:prstGeom prst="roundRect">
            <a:avLst>
              <a:gd name="adj" fmla="val 16667"/>
            </a:avLst>
          </a:prstGeom>
          <a:solidFill>
            <a:schemeClr val="accent1"/>
          </a:solidFill>
          <a:ln w="12700">
            <a:solidFill>
              <a:schemeClr val="accent1"/>
            </a:solidFill>
            <a:prstDash val="solid"/>
          </a:ln>
        </p:spPr>
      </p:sp>
      <p:sp>
        <p:nvSpPr>
          <p:cNvPr id="32" name="Text 30"/>
          <p:cNvSpPr txBox="1"/>
          <p:nvPr/>
        </p:nvSpPr>
        <p:spPr>
          <a:xfrm>
            <a:off x="6035040" y="3913632"/>
            <a:ext cx="5440680" cy="658368"/>
          </a:xfrm>
          <a:prstGeom prst="rect">
            <a:avLst/>
          </a:prstGeom>
          <a:noFill/>
          <a:ln/>
        </p:spPr>
        <p:txBody>
          <a:bodyPr wrap="square" lIns="0" tIns="0" rIns="0" bIns="0" rtlCol="0" anchor="ctr"/>
          <a:lstStyle/>
          <a:p>
            <a:pPr indent="0" marL="0">
              <a:buNone/>
            </a:pPr>
            <a:r>
              <a:rPr lang="en-US" sz="1400" dirty="0">
                <a:solidFill>
                  <a:schemeClr val="bg1"/>
                </a:solidFill>
              </a:rPr>
              <a:t>FIFO (depth 1024) acts as an elastic buffer</a:t>
            </a:r>
            <a:endParaRPr lang="en-US" sz="1400" dirty="0"/>
          </a:p>
        </p:txBody>
      </p:sp>
      <p:sp>
        <p:nvSpPr>
          <p:cNvPr id="33" name="Challenge 5"/>
          <p:cNvSpPr/>
          <p:nvPr/>
        </p:nvSpPr>
        <p:spPr>
          <a:xfrm>
            <a:off x="548640" y="4700016"/>
            <a:ext cx="4846320" cy="658368"/>
          </a:xfrm>
          <a:prstGeom prst="roundRect">
            <a:avLst>
              <a:gd name="adj" fmla="val 16667"/>
            </a:avLst>
          </a:prstGeom>
          <a:solidFill>
            <a:schemeClr val="bg2"/>
          </a:solidFill>
          <a:ln w="12700">
            <a:solidFill>
              <a:schemeClr val="bg2"/>
            </a:solidFill>
            <a:prstDash val="solid"/>
          </a:ln>
        </p:spPr>
      </p:sp>
      <p:sp>
        <p:nvSpPr>
          <p:cNvPr id="34" name="Challenge number 5"/>
          <p:cNvSpPr/>
          <p:nvPr/>
        </p:nvSpPr>
        <p:spPr>
          <a:xfrm>
            <a:off x="658368" y="4818888"/>
            <a:ext cx="420624" cy="420624"/>
          </a:xfrm>
          <a:prstGeom prst="ellipse">
            <a:avLst/>
          </a:prstGeom>
          <a:solidFill>
            <a:schemeClr val="accent6"/>
          </a:solidFill>
          <a:ln w="12700">
            <a:solidFill>
              <a:schemeClr val="accent6"/>
            </a:solidFill>
            <a:prstDash val="solid"/>
          </a:ln>
        </p:spPr>
      </p:sp>
      <p:sp>
        <p:nvSpPr>
          <p:cNvPr id="35" name="Text 33"/>
          <p:cNvSpPr txBox="1"/>
          <p:nvPr/>
        </p:nvSpPr>
        <p:spPr>
          <a:xfrm>
            <a:off x="658368" y="481888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6" name="Text 34"/>
          <p:cNvSpPr txBox="1"/>
          <p:nvPr/>
        </p:nvSpPr>
        <p:spPr>
          <a:xfrm>
            <a:off x="1188720" y="4700016"/>
            <a:ext cx="4114800" cy="658368"/>
          </a:xfrm>
          <a:prstGeom prst="rect">
            <a:avLst/>
          </a:prstGeom>
          <a:noFill/>
          <a:ln/>
        </p:spPr>
        <p:txBody>
          <a:bodyPr wrap="square" lIns="0" tIns="0" rIns="0" bIns="0" rtlCol="0" anchor="ctr"/>
          <a:lstStyle/>
          <a:p>
            <a:pPr indent="0" marL="0">
              <a:buNone/>
            </a:pPr>
            <a:r>
              <a:rPr lang="en-US" sz="1400" b="1" dirty="0">
                <a:solidFill>
                  <a:schemeClr val="tx1"/>
                </a:solidFill>
              </a:rPr>
              <a:t>10 kHz PWM ripple hides the true current trend</a:t>
            </a:r>
            <a:endParaRPr lang="en-US" sz="1400" dirty="0"/>
          </a:p>
        </p:txBody>
      </p:sp>
      <p:sp>
        <p:nvSpPr>
          <p:cNvPr id="37" name="Arrow 5"/>
          <p:cNvSpPr/>
          <p:nvPr/>
        </p:nvSpPr>
        <p:spPr>
          <a:xfrm>
            <a:off x="5440680" y="5029200"/>
            <a:ext cx="365760" cy="0"/>
          </a:xfrm>
          <a:prstGeom prst="line">
            <a:avLst/>
          </a:prstGeom>
          <a:noFill/>
          <a:ln w="25400">
            <a:solidFill>
              <a:schemeClr val="accent3"/>
            </a:solidFill>
            <a:prstDash val="solid"/>
            <a:tailEnd type="triangle"/>
          </a:ln>
        </p:spPr>
      </p:sp>
      <p:sp>
        <p:nvSpPr>
          <p:cNvPr id="38" name="Solution 5"/>
          <p:cNvSpPr/>
          <p:nvPr/>
        </p:nvSpPr>
        <p:spPr>
          <a:xfrm>
            <a:off x="5852160" y="4700016"/>
            <a:ext cx="5760720" cy="658368"/>
          </a:xfrm>
          <a:prstGeom prst="roundRect">
            <a:avLst>
              <a:gd name="adj" fmla="val 16667"/>
            </a:avLst>
          </a:prstGeom>
          <a:solidFill>
            <a:schemeClr val="accent1"/>
          </a:solidFill>
          <a:ln w="12700">
            <a:solidFill>
              <a:schemeClr val="accent1"/>
            </a:solidFill>
            <a:prstDash val="solid"/>
          </a:ln>
        </p:spPr>
      </p:sp>
      <p:sp>
        <p:nvSpPr>
          <p:cNvPr id="39" name="Text 37"/>
          <p:cNvSpPr txBox="1"/>
          <p:nvPr/>
        </p:nvSpPr>
        <p:spPr>
          <a:xfrm>
            <a:off x="6035040" y="4700016"/>
            <a:ext cx="5440680" cy="658368"/>
          </a:xfrm>
          <a:prstGeom prst="rect">
            <a:avLst/>
          </a:prstGeom>
          <a:noFill/>
          <a:ln/>
        </p:spPr>
        <p:txBody>
          <a:bodyPr wrap="square" lIns="0" tIns="0" rIns="0" bIns="0" rtlCol="0" anchor="ctr"/>
          <a:lstStyle/>
          <a:p>
            <a:pPr indent="0" marL="0">
              <a:buNone/>
            </a:pPr>
            <a:r>
              <a:rPr lang="en-US" sz="1400" dirty="0">
                <a:solidFill>
                  <a:schemeClr val="bg1"/>
                </a:solidFill>
              </a:rPr>
              <a:t>Online Savitzky-Golay filter (window 31, order 3)</a:t>
            </a:r>
            <a:endParaRPr lang="en-US" sz="1400" dirty="0"/>
          </a:p>
        </p:txBody>
      </p:sp>
      <p:sp>
        <p:nvSpPr>
          <p:cNvPr id="40" name="Challenge 6"/>
          <p:cNvSpPr/>
          <p:nvPr/>
        </p:nvSpPr>
        <p:spPr>
          <a:xfrm>
            <a:off x="548640" y="5486400"/>
            <a:ext cx="4846320" cy="658368"/>
          </a:xfrm>
          <a:prstGeom prst="roundRect">
            <a:avLst>
              <a:gd name="adj" fmla="val 16667"/>
            </a:avLst>
          </a:prstGeom>
          <a:solidFill>
            <a:schemeClr val="bg2"/>
          </a:solidFill>
          <a:ln w="12700">
            <a:solidFill>
              <a:schemeClr val="bg2"/>
            </a:solidFill>
            <a:prstDash val="solid"/>
          </a:ln>
        </p:spPr>
      </p:sp>
      <p:sp>
        <p:nvSpPr>
          <p:cNvPr id="41" name="Challenge number 6"/>
          <p:cNvSpPr/>
          <p:nvPr/>
        </p:nvSpPr>
        <p:spPr>
          <a:xfrm>
            <a:off x="658368" y="5605272"/>
            <a:ext cx="420624" cy="420624"/>
          </a:xfrm>
          <a:prstGeom prst="ellipse">
            <a:avLst/>
          </a:prstGeom>
          <a:solidFill>
            <a:schemeClr val="accent6"/>
          </a:solidFill>
          <a:ln w="12700">
            <a:solidFill>
              <a:schemeClr val="accent6"/>
            </a:solidFill>
            <a:prstDash val="solid"/>
          </a:ln>
        </p:spPr>
      </p:sp>
      <p:sp>
        <p:nvSpPr>
          <p:cNvPr id="42" name="Text 40"/>
          <p:cNvSpPr txBox="1"/>
          <p:nvPr/>
        </p:nvSpPr>
        <p:spPr>
          <a:xfrm>
            <a:off x="658368" y="560527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43" name="Text 41"/>
          <p:cNvSpPr txBox="1"/>
          <p:nvPr/>
        </p:nvSpPr>
        <p:spPr>
          <a:xfrm>
            <a:off x="1188720" y="5486400"/>
            <a:ext cx="4114800" cy="658368"/>
          </a:xfrm>
          <a:prstGeom prst="rect">
            <a:avLst/>
          </a:prstGeom>
          <a:noFill/>
          <a:ln/>
        </p:spPr>
        <p:txBody>
          <a:bodyPr wrap="square" lIns="0" tIns="0" rIns="0" bIns="0" rtlCol="0" anchor="ctr"/>
          <a:lstStyle/>
          <a:p>
            <a:pPr indent="0" marL="0">
              <a:buNone/>
            </a:pPr>
            <a:r>
              <a:rPr lang="en-US" sz="1400" b="1" dirty="0">
                <a:solidFill>
                  <a:schemeClr val="tx1"/>
                </a:solidFill>
              </a:rPr>
              <a:t>Linking HDL Coder output to Vivado</a:t>
            </a:r>
            <a:endParaRPr lang="en-US" sz="1400" dirty="0"/>
          </a:p>
        </p:txBody>
      </p:sp>
      <p:sp>
        <p:nvSpPr>
          <p:cNvPr id="44" name="Arrow 6"/>
          <p:cNvSpPr/>
          <p:nvPr/>
        </p:nvSpPr>
        <p:spPr>
          <a:xfrm>
            <a:off x="5440680" y="5815584"/>
            <a:ext cx="365760" cy="0"/>
          </a:xfrm>
          <a:prstGeom prst="line">
            <a:avLst/>
          </a:prstGeom>
          <a:noFill/>
          <a:ln w="25400">
            <a:solidFill>
              <a:schemeClr val="accent3"/>
            </a:solidFill>
            <a:prstDash val="solid"/>
            <a:tailEnd type="triangle"/>
          </a:ln>
        </p:spPr>
      </p:sp>
      <p:sp>
        <p:nvSpPr>
          <p:cNvPr id="45" name="Solution 6"/>
          <p:cNvSpPr/>
          <p:nvPr/>
        </p:nvSpPr>
        <p:spPr>
          <a:xfrm>
            <a:off x="5852160" y="5486400"/>
            <a:ext cx="5760720" cy="658368"/>
          </a:xfrm>
          <a:prstGeom prst="roundRect">
            <a:avLst>
              <a:gd name="adj" fmla="val 16667"/>
            </a:avLst>
          </a:prstGeom>
          <a:solidFill>
            <a:schemeClr val="accent1"/>
          </a:solidFill>
          <a:ln w="12700">
            <a:solidFill>
              <a:schemeClr val="accent1"/>
            </a:solidFill>
            <a:prstDash val="solid"/>
          </a:ln>
        </p:spPr>
      </p:sp>
      <p:sp>
        <p:nvSpPr>
          <p:cNvPr id="46" name="Text 44"/>
          <p:cNvSpPr txBox="1"/>
          <p:nvPr/>
        </p:nvSpPr>
        <p:spPr>
          <a:xfrm>
            <a:off x="6035040" y="5486400"/>
            <a:ext cx="5440680" cy="658368"/>
          </a:xfrm>
          <a:prstGeom prst="rect">
            <a:avLst/>
          </a:prstGeom>
          <a:noFill/>
          <a:ln/>
        </p:spPr>
        <p:txBody>
          <a:bodyPr wrap="square" lIns="0" tIns="0" rIns="0" bIns="0" rtlCol="0" anchor="ctr"/>
          <a:lstStyle/>
          <a:p>
            <a:pPr indent="0" marL="0">
              <a:buNone/>
            </a:pPr>
            <a:r>
              <a:rPr lang="en-US" sz="1400" dirty="0">
                <a:solidFill>
                  <a:schemeClr val="bg1"/>
                </a:solidFill>
              </a:rPr>
              <a:t>Custom Verilog wrapper for clock enables and handshakes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Conclusion &amp; Future Scope</a:t>
            </a:r>
            <a:endParaRPr lang="en-US" sz="3600" dirty="0"/>
          </a:p>
        </p:txBody>
      </p:sp>
      <p:sp>
        <p:nvSpPr>
          <p:cNvPr id="3" name="Metric 1"/>
          <p:cNvSpPr/>
          <p:nvPr/>
        </p:nvSpPr>
        <p:spPr>
          <a:xfrm>
            <a:off x="548640" y="1280160"/>
            <a:ext cx="2423160" cy="1417320"/>
          </a:xfrm>
          <a:prstGeom prst="roundRect">
            <a:avLst>
              <a:gd name="adj" fmla="val 7742"/>
            </a:avLst>
          </a:prstGeom>
          <a:solidFill>
            <a:schemeClr val="accent1"/>
          </a:solidFill>
          <a:ln w="12700">
            <a:solidFill>
              <a:schemeClr val="accent1"/>
            </a:solidFill>
            <a:prstDash val="solid"/>
          </a:ln>
        </p:spPr>
      </p:sp>
      <p:sp>
        <p:nvSpPr>
          <p:cNvPr id="4" name="Text 2"/>
          <p:cNvSpPr txBox="1"/>
          <p:nvPr/>
        </p:nvSpPr>
        <p:spPr>
          <a:xfrm>
            <a:off x="548640" y="1280160"/>
            <a:ext cx="2423160" cy="1417320"/>
          </a:xfrm>
          <a:prstGeom prst="rect">
            <a:avLst/>
          </a:prstGeom>
          <a:noFill/>
          <a:ln/>
        </p:spPr>
        <p:txBody>
          <a:bodyPr wrap="square" lIns="635" tIns="635" rIns="635" bIns="635" rtlCol="0" anchor="ctr"/>
          <a:lstStyle/>
          <a:p>
            <a:pPr algn="ctr" indent="0" marL="0">
              <a:buNone/>
            </a:pPr>
            <a:r>
              <a:rPr lang="en-US" sz="3000" b="1" dirty="0">
                <a:solidFill>
                  <a:schemeClr val="bg1"/>
                </a:solidFill>
              </a:rPr>
              <a:t>100 kHz</a:t>
            </a:r>
            <a:endParaRPr lang="en-US" sz="3000" dirty="0"/>
          </a:p>
          <a:p>
            <a:pPr algn="ctr" indent="0" marL="0">
              <a:buNone/>
            </a:pPr>
            <a:r>
              <a:rPr lang="en-US" sz="1400" dirty="0">
                <a:solidFill>
                  <a:schemeClr val="bg1"/>
                </a:solidFill>
              </a:rPr>
              <a:t>plant model rate</a:t>
            </a:r>
            <a:endParaRPr lang="en-US" sz="3000" dirty="0"/>
          </a:p>
        </p:txBody>
      </p:sp>
      <p:sp>
        <p:nvSpPr>
          <p:cNvPr id="5" name="Metric 2"/>
          <p:cNvSpPr/>
          <p:nvPr/>
        </p:nvSpPr>
        <p:spPr>
          <a:xfrm>
            <a:off x="3154680" y="1280160"/>
            <a:ext cx="2423160" cy="1417320"/>
          </a:xfrm>
          <a:prstGeom prst="roundRect">
            <a:avLst>
              <a:gd name="adj" fmla="val 7742"/>
            </a:avLst>
          </a:prstGeom>
          <a:solidFill>
            <a:schemeClr val="tx2"/>
          </a:solidFill>
          <a:ln w="12700">
            <a:solidFill>
              <a:schemeClr val="tx2"/>
            </a:solidFill>
            <a:prstDash val="solid"/>
          </a:ln>
        </p:spPr>
      </p:sp>
      <p:sp>
        <p:nvSpPr>
          <p:cNvPr id="6" name="Text 4"/>
          <p:cNvSpPr txBox="1"/>
          <p:nvPr/>
        </p:nvSpPr>
        <p:spPr>
          <a:xfrm>
            <a:off x="3154680" y="1280160"/>
            <a:ext cx="2423160" cy="1417320"/>
          </a:xfrm>
          <a:prstGeom prst="rect">
            <a:avLst/>
          </a:prstGeom>
          <a:noFill/>
          <a:ln/>
        </p:spPr>
        <p:txBody>
          <a:bodyPr wrap="square" lIns="635" tIns="635" rIns="635" bIns="635" rtlCol="0" anchor="ctr"/>
          <a:lstStyle/>
          <a:p>
            <a:pPr algn="ctr" indent="0" marL="0">
              <a:buNone/>
            </a:pPr>
            <a:r>
              <a:rPr lang="en-US" sz="3000" b="1" dirty="0">
                <a:solidFill>
                  <a:schemeClr val="bg1"/>
                </a:solidFill>
              </a:rPr>
              <a:t>10 kHz</a:t>
            </a:r>
            <a:endParaRPr lang="en-US" sz="3000" dirty="0"/>
          </a:p>
          <a:p>
            <a:pPr algn="ctr" indent="0" marL="0">
              <a:buNone/>
            </a:pPr>
            <a:r>
              <a:rPr lang="en-US" sz="1400" dirty="0">
                <a:solidFill>
                  <a:schemeClr val="accent4"/>
                </a:solidFill>
              </a:rPr>
              <a:t>PWM generator</a:t>
            </a:r>
            <a:endParaRPr lang="en-US" sz="3000" dirty="0"/>
          </a:p>
        </p:txBody>
      </p:sp>
      <p:sp>
        <p:nvSpPr>
          <p:cNvPr id="7" name="Metric 3"/>
          <p:cNvSpPr/>
          <p:nvPr/>
        </p:nvSpPr>
        <p:spPr>
          <a:xfrm>
            <a:off x="548640" y="2880360"/>
            <a:ext cx="2423160" cy="1417320"/>
          </a:xfrm>
          <a:prstGeom prst="roundRect">
            <a:avLst>
              <a:gd name="adj" fmla="val 7742"/>
            </a:avLst>
          </a:prstGeom>
          <a:solidFill>
            <a:schemeClr val="tx2"/>
          </a:solidFill>
          <a:ln w="12700">
            <a:solidFill>
              <a:schemeClr val="tx2"/>
            </a:solidFill>
            <a:prstDash val="solid"/>
          </a:ln>
        </p:spPr>
      </p:sp>
      <p:sp>
        <p:nvSpPr>
          <p:cNvPr id="8" name="Text 6"/>
          <p:cNvSpPr txBox="1"/>
          <p:nvPr/>
        </p:nvSpPr>
        <p:spPr>
          <a:xfrm>
            <a:off x="548640" y="2880360"/>
            <a:ext cx="2423160" cy="1417320"/>
          </a:xfrm>
          <a:prstGeom prst="rect">
            <a:avLst/>
          </a:prstGeom>
          <a:noFill/>
          <a:ln/>
        </p:spPr>
        <p:txBody>
          <a:bodyPr wrap="square" lIns="635" tIns="635" rIns="635" bIns="635" rtlCol="0" anchor="ctr"/>
          <a:lstStyle/>
          <a:p>
            <a:pPr algn="ctr" indent="0" marL="0">
              <a:buNone/>
            </a:pPr>
            <a:r>
              <a:rPr lang="en-US" sz="3000" b="1" dirty="0">
                <a:solidFill>
                  <a:schemeClr val="bg1"/>
                </a:solidFill>
              </a:rPr>
              <a:t>1,000,000</a:t>
            </a:r>
            <a:endParaRPr lang="en-US" sz="3000" dirty="0"/>
          </a:p>
          <a:p>
            <a:pPr algn="ctr" indent="0" marL="0">
              <a:buNone/>
            </a:pPr>
            <a:r>
              <a:rPr lang="en-US" sz="1400" dirty="0">
                <a:solidFill>
                  <a:schemeClr val="accent4"/>
                </a:solidFill>
              </a:rPr>
              <a:t>frames streamed</a:t>
            </a:r>
            <a:endParaRPr lang="en-US" sz="3000" dirty="0"/>
          </a:p>
        </p:txBody>
      </p:sp>
      <p:sp>
        <p:nvSpPr>
          <p:cNvPr id="9" name="Metric 4"/>
          <p:cNvSpPr/>
          <p:nvPr/>
        </p:nvSpPr>
        <p:spPr>
          <a:xfrm>
            <a:off x="3154680" y="2880360"/>
            <a:ext cx="2423160" cy="1417320"/>
          </a:xfrm>
          <a:prstGeom prst="roundRect">
            <a:avLst>
              <a:gd name="adj" fmla="val 7742"/>
            </a:avLst>
          </a:prstGeom>
          <a:solidFill>
            <a:schemeClr val="tx2"/>
          </a:solidFill>
          <a:ln w="12700">
            <a:solidFill>
              <a:schemeClr val="tx2"/>
            </a:solidFill>
            <a:prstDash val="solid"/>
          </a:ln>
        </p:spPr>
      </p:sp>
      <p:sp>
        <p:nvSpPr>
          <p:cNvPr id="10" name="Text 8"/>
          <p:cNvSpPr txBox="1"/>
          <p:nvPr/>
        </p:nvSpPr>
        <p:spPr>
          <a:xfrm>
            <a:off x="3154680" y="2880360"/>
            <a:ext cx="2423160" cy="1417320"/>
          </a:xfrm>
          <a:prstGeom prst="rect">
            <a:avLst/>
          </a:prstGeom>
          <a:noFill/>
          <a:ln/>
        </p:spPr>
        <p:txBody>
          <a:bodyPr wrap="square" lIns="635" tIns="635" rIns="635" bIns="635" rtlCol="0" anchor="ctr"/>
          <a:lstStyle/>
          <a:p>
            <a:pPr algn="ctr" indent="0" marL="0">
              <a:buNone/>
            </a:pPr>
            <a:r>
              <a:rPr lang="en-US" sz="3000" b="1" dirty="0">
                <a:solidFill>
                  <a:schemeClr val="bg1"/>
                </a:solidFill>
              </a:rPr>
              <a:t>0</a:t>
            </a:r>
            <a:endParaRPr lang="en-US" sz="3000" dirty="0"/>
          </a:p>
          <a:p>
            <a:pPr algn="ctr" indent="0" marL="0">
              <a:buNone/>
            </a:pPr>
            <a:r>
              <a:rPr lang="en-US" sz="1400" dirty="0">
                <a:solidFill>
                  <a:schemeClr val="accent4"/>
                </a:solidFill>
              </a:rPr>
              <a:t>FIFO overflows</a:t>
            </a:r>
            <a:endParaRPr lang="en-US" sz="3000" dirty="0"/>
          </a:p>
        </p:txBody>
      </p:sp>
      <p:sp>
        <p:nvSpPr>
          <p:cNvPr id="11" name="Text 9"/>
          <p:cNvSpPr txBox="1"/>
          <p:nvPr/>
        </p:nvSpPr>
        <p:spPr>
          <a:xfrm>
            <a:off x="6126480" y="1234440"/>
            <a:ext cx="5486400" cy="36576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Conclusion</a:t>
            </a:r>
            <a:endParaRPr lang="en-US" sz="2000" dirty="0"/>
          </a:p>
        </p:txBody>
      </p:sp>
      <p:sp>
        <p:nvSpPr>
          <p:cNvPr id="12" name="Text 10"/>
          <p:cNvSpPr txBox="1"/>
          <p:nvPr/>
        </p:nvSpPr>
        <p:spPr>
          <a:xfrm>
            <a:off x="6126480" y="1645920"/>
            <a:ext cx="5486400" cy="12801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rPr>
              <a:t>Working end-to-end HIL platform for a PMDC motor</a:t>
            </a:r>
            <a:endParaRPr lang="en-US" sz="1400" dirty="0"/>
          </a:p>
          <a:p>
            <a:pPr marL="342900" indent="-342900">
              <a:spcAft>
                <a:spcPts val="500"/>
              </a:spcAft>
              <a:buSzPct val="100000"/>
              <a:buChar char="•"/>
            </a:pPr>
            <a:r>
              <a:rPr lang="en-US" sz="1400" dirty="0">
                <a:solidFill>
                  <a:schemeClr val="bg1"/>
                </a:solidFill>
              </a:rPr>
              <a:t>Custom IP: pmdc_axis_wrapper.v and pwm_gen.v</a:t>
            </a:r>
            <a:endParaRPr lang="en-US" sz="1400" dirty="0"/>
          </a:p>
          <a:p>
            <a:pPr marL="342900" indent="-342900">
              <a:spcAft>
                <a:spcPts val="500"/>
              </a:spcAft>
              <a:buSzPct val="100000"/>
              <a:buChar char="•"/>
            </a:pPr>
            <a:r>
              <a:rPr lang="en-US" sz="1400" dirty="0">
                <a:solidFill>
                  <a:schemeClr val="bg1"/>
                </a:solidFill>
              </a:rPr>
              <a:t>Simulink to Vivado to Vitis to Python co-design flow</a:t>
            </a:r>
            <a:endParaRPr lang="en-US" sz="1400" dirty="0"/>
          </a:p>
        </p:txBody>
      </p:sp>
      <p:sp>
        <p:nvSpPr>
          <p:cNvPr id="13" name="Text 11"/>
          <p:cNvSpPr txBox="1"/>
          <p:nvPr/>
        </p:nvSpPr>
        <p:spPr>
          <a:xfrm>
            <a:off x="6126480" y="3017520"/>
            <a:ext cx="5486400" cy="36576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Future Scope</a:t>
            </a:r>
            <a:endParaRPr lang="en-US" sz="2000" dirty="0"/>
          </a:p>
        </p:txBody>
      </p:sp>
      <p:sp>
        <p:nvSpPr>
          <p:cNvPr id="14" name="Text 12"/>
          <p:cNvSpPr txBox="1"/>
          <p:nvPr/>
        </p:nvSpPr>
        <p:spPr>
          <a:xfrm>
            <a:off x="6126480" y="3429000"/>
            <a:ext cx="5486400" cy="13716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rPr>
              <a:t>Closed-loop control with hardware PID controllers</a:t>
            </a:r>
            <a:endParaRPr lang="en-US" sz="1400" dirty="0"/>
          </a:p>
          <a:p>
            <a:pPr marL="342900" indent="-342900">
              <a:spcAft>
                <a:spcPts val="500"/>
              </a:spcAft>
              <a:buSzPct val="100000"/>
              <a:buChar char="•"/>
            </a:pPr>
            <a:r>
              <a:rPr lang="en-US" sz="1400" dirty="0">
                <a:solidFill>
                  <a:schemeClr val="bg1"/>
                </a:solidFill>
              </a:rPr>
              <a:t>PetaLinux + UDP streaming for higher bandwidth, multi-axis</a:t>
            </a:r>
            <a:endParaRPr lang="en-US" sz="1400" dirty="0"/>
          </a:p>
          <a:p>
            <a:pPr marL="342900" indent="-342900">
              <a:spcAft>
                <a:spcPts val="500"/>
              </a:spcAft>
              <a:buSzPct val="100000"/>
              <a:buChar char="•"/>
            </a:pPr>
            <a:r>
              <a:rPr lang="en-US" sz="1400" dirty="0">
                <a:solidFill>
                  <a:schemeClr val="bg1"/>
                </a:solidFill>
              </a:rPr>
              <a:t>Automated testbenches and CI for Verilog and Python</a:t>
            </a:r>
            <a:endParaRPr lang="en-US" sz="1400" dirty="0"/>
          </a:p>
        </p:txBody>
      </p:sp>
      <p:sp>
        <p:nvSpPr>
          <p:cNvPr id="15" name="Roadmap arrow 1"/>
          <p:cNvSpPr/>
          <p:nvPr/>
        </p:nvSpPr>
        <p:spPr>
          <a:xfrm>
            <a:off x="1325880" y="5486400"/>
            <a:ext cx="1920240" cy="0"/>
          </a:xfrm>
          <a:prstGeom prst="line">
            <a:avLst/>
          </a:prstGeom>
          <a:noFill/>
          <a:ln w="25400">
            <a:solidFill>
              <a:schemeClr val="accent4"/>
            </a:solidFill>
            <a:prstDash val="solid"/>
            <a:tailEnd type="triangle"/>
          </a:ln>
        </p:spPr>
      </p:sp>
      <p:sp>
        <p:nvSpPr>
          <p:cNvPr id="16" name="Milestone 1"/>
          <p:cNvSpPr/>
          <p:nvPr/>
        </p:nvSpPr>
        <p:spPr>
          <a:xfrm>
            <a:off x="822960" y="5120640"/>
            <a:ext cx="731520" cy="731520"/>
          </a:xfrm>
          <a:prstGeom prst="ellipse">
            <a:avLst/>
          </a:prstGeom>
          <a:solidFill>
            <a:schemeClr val="accent5"/>
          </a:solidFill>
          <a:ln w="12700">
            <a:solidFill>
              <a:schemeClr val="accent5"/>
            </a:solidFill>
            <a:prstDash val="solid"/>
          </a:ln>
        </p:spPr>
      </p:sp>
      <p:pic>
        <p:nvPicPr>
          <p:cNvPr id="17" name="Check 1" descr="Completed">    </p:cNvPr>
          <p:cNvPicPr>
            <a:picLocks noChangeAspect="1"/>
          </p:cNvPicPr>
          <p:nvPr/>
        </p:nvPicPr>
        <p:blipFill>
          <a:blip r:embed="rId1"/>
          <a:stretch>
            <a:fillRect/>
          </a:stretch>
        </p:blipFill>
        <p:spPr>
          <a:xfrm>
            <a:off x="1024128" y="5321808"/>
            <a:ext cx="329184" cy="329184"/>
          </a:xfrm>
          <a:prstGeom prst="rect">
            <a:avLst/>
          </a:prstGeom>
        </p:spPr>
      </p:pic>
      <p:sp>
        <p:nvSpPr>
          <p:cNvPr id="18" name="Text 15"/>
          <p:cNvSpPr txBox="1"/>
          <p:nvPr/>
        </p:nvSpPr>
        <p:spPr>
          <a:xfrm>
            <a:off x="457200" y="5897880"/>
            <a:ext cx="1463040" cy="320040"/>
          </a:xfrm>
          <a:prstGeom prst="rect">
            <a:avLst/>
          </a:prstGeom>
          <a:noFill/>
          <a:ln/>
        </p:spPr>
        <p:txBody>
          <a:bodyPr wrap="square" lIns="0" tIns="0" rIns="0" bIns="0" rtlCol="0" anchor="ctr"/>
          <a:lstStyle/>
          <a:p>
            <a:pPr algn="ctr" indent="0" marL="0">
              <a:buNone/>
            </a:pPr>
            <a:r>
              <a:rPr lang="en-US" sz="1400" dirty="0">
                <a:solidFill>
                  <a:schemeClr val="bg1"/>
                </a:solidFill>
              </a:rPr>
              <a:t>Plant model</a:t>
            </a:r>
            <a:endParaRPr lang="en-US" sz="1400" dirty="0"/>
          </a:p>
        </p:txBody>
      </p:sp>
      <p:sp>
        <p:nvSpPr>
          <p:cNvPr id="19" name="Roadmap arrow 2"/>
          <p:cNvSpPr/>
          <p:nvPr/>
        </p:nvSpPr>
        <p:spPr>
          <a:xfrm>
            <a:off x="3794760" y="5486400"/>
            <a:ext cx="1920240" cy="0"/>
          </a:xfrm>
          <a:prstGeom prst="line">
            <a:avLst/>
          </a:prstGeom>
          <a:noFill/>
          <a:ln w="25400">
            <a:solidFill>
              <a:schemeClr val="accent4"/>
            </a:solidFill>
            <a:prstDash val="solid"/>
            <a:tailEnd type="triangle"/>
          </a:ln>
        </p:spPr>
      </p:sp>
      <p:sp>
        <p:nvSpPr>
          <p:cNvPr id="20" name="Milestone 2"/>
          <p:cNvSpPr/>
          <p:nvPr/>
        </p:nvSpPr>
        <p:spPr>
          <a:xfrm>
            <a:off x="3291840" y="5120640"/>
            <a:ext cx="731520" cy="731520"/>
          </a:xfrm>
          <a:prstGeom prst="ellipse">
            <a:avLst/>
          </a:prstGeom>
          <a:solidFill>
            <a:schemeClr val="accent5"/>
          </a:solidFill>
          <a:ln w="12700">
            <a:solidFill>
              <a:schemeClr val="accent5"/>
            </a:solidFill>
            <a:prstDash val="solid"/>
          </a:ln>
        </p:spPr>
      </p:sp>
      <p:pic>
        <p:nvPicPr>
          <p:cNvPr id="21" name="Check 2" descr="Completed">    </p:cNvPr>
          <p:cNvPicPr>
            <a:picLocks noChangeAspect="1"/>
          </p:cNvPicPr>
          <p:nvPr/>
        </p:nvPicPr>
        <p:blipFill>
          <a:blip r:embed="rId2"/>
          <a:stretch>
            <a:fillRect/>
          </a:stretch>
        </p:blipFill>
        <p:spPr>
          <a:xfrm>
            <a:off x="3493008" y="5321808"/>
            <a:ext cx="329184" cy="329184"/>
          </a:xfrm>
          <a:prstGeom prst="rect">
            <a:avLst/>
          </a:prstGeom>
        </p:spPr>
      </p:pic>
      <p:sp>
        <p:nvSpPr>
          <p:cNvPr id="22" name="Text 18"/>
          <p:cNvSpPr txBox="1"/>
          <p:nvPr/>
        </p:nvSpPr>
        <p:spPr>
          <a:xfrm>
            <a:off x="2926080" y="5897880"/>
            <a:ext cx="1463040" cy="320040"/>
          </a:xfrm>
          <a:prstGeom prst="rect">
            <a:avLst/>
          </a:prstGeom>
          <a:noFill/>
          <a:ln/>
        </p:spPr>
        <p:txBody>
          <a:bodyPr wrap="square" lIns="0" tIns="0" rIns="0" bIns="0" rtlCol="0" anchor="ctr"/>
          <a:lstStyle/>
          <a:p>
            <a:pPr algn="ctr" indent="0" marL="0">
              <a:buNone/>
            </a:pPr>
            <a:r>
              <a:rPr lang="en-US" sz="1400" dirty="0">
                <a:solidFill>
                  <a:schemeClr val="bg1"/>
                </a:solidFill>
              </a:rPr>
              <a:t>RTL synthesis</a:t>
            </a:r>
            <a:endParaRPr lang="en-US" sz="1400" dirty="0"/>
          </a:p>
        </p:txBody>
      </p:sp>
      <p:sp>
        <p:nvSpPr>
          <p:cNvPr id="23" name="Roadmap arrow 3"/>
          <p:cNvSpPr/>
          <p:nvPr/>
        </p:nvSpPr>
        <p:spPr>
          <a:xfrm>
            <a:off x="6263640" y="5486400"/>
            <a:ext cx="1920240" cy="0"/>
          </a:xfrm>
          <a:prstGeom prst="line">
            <a:avLst/>
          </a:prstGeom>
          <a:noFill/>
          <a:ln w="25400">
            <a:solidFill>
              <a:schemeClr val="accent4"/>
            </a:solidFill>
            <a:prstDash val="solid"/>
            <a:tailEnd type="triangle"/>
          </a:ln>
        </p:spPr>
      </p:sp>
      <p:sp>
        <p:nvSpPr>
          <p:cNvPr id="24" name="Milestone 3"/>
          <p:cNvSpPr/>
          <p:nvPr/>
        </p:nvSpPr>
        <p:spPr>
          <a:xfrm>
            <a:off x="5760720" y="5120640"/>
            <a:ext cx="731520" cy="731520"/>
          </a:xfrm>
          <a:prstGeom prst="ellipse">
            <a:avLst/>
          </a:prstGeom>
          <a:solidFill>
            <a:schemeClr val="accent5"/>
          </a:solidFill>
          <a:ln w="12700">
            <a:solidFill>
              <a:schemeClr val="accent5"/>
            </a:solidFill>
            <a:prstDash val="solid"/>
          </a:ln>
        </p:spPr>
      </p:sp>
      <p:pic>
        <p:nvPicPr>
          <p:cNvPr id="25" name="Check 3" descr="Completed">    </p:cNvPr>
          <p:cNvPicPr>
            <a:picLocks noChangeAspect="1"/>
          </p:cNvPicPr>
          <p:nvPr/>
        </p:nvPicPr>
        <p:blipFill>
          <a:blip r:embed="rId3"/>
          <a:stretch>
            <a:fillRect/>
          </a:stretch>
        </p:blipFill>
        <p:spPr>
          <a:xfrm>
            <a:off x="5961888" y="5321808"/>
            <a:ext cx="329184" cy="329184"/>
          </a:xfrm>
          <a:prstGeom prst="rect">
            <a:avLst/>
          </a:prstGeom>
        </p:spPr>
      </p:pic>
      <p:sp>
        <p:nvSpPr>
          <p:cNvPr id="26" name="Text 21"/>
          <p:cNvSpPr txBox="1"/>
          <p:nvPr/>
        </p:nvSpPr>
        <p:spPr>
          <a:xfrm>
            <a:off x="5394960" y="5897880"/>
            <a:ext cx="1463040" cy="320040"/>
          </a:xfrm>
          <a:prstGeom prst="rect">
            <a:avLst/>
          </a:prstGeom>
          <a:noFill/>
          <a:ln/>
        </p:spPr>
        <p:txBody>
          <a:bodyPr wrap="square" lIns="0" tIns="0" rIns="0" bIns="0" rtlCol="0" anchor="ctr"/>
          <a:lstStyle/>
          <a:p>
            <a:pPr algn="ctr" indent="0" marL="0">
              <a:buNone/>
            </a:pPr>
            <a:r>
              <a:rPr lang="en-US" sz="1400" dirty="0">
                <a:solidFill>
                  <a:schemeClr val="bg1"/>
                </a:solidFill>
              </a:rPr>
              <a:t>PL integration</a:t>
            </a:r>
            <a:endParaRPr lang="en-US" sz="1400" dirty="0"/>
          </a:p>
        </p:txBody>
      </p:sp>
      <p:sp>
        <p:nvSpPr>
          <p:cNvPr id="27" name="Roadmap arrow 4"/>
          <p:cNvSpPr/>
          <p:nvPr/>
        </p:nvSpPr>
        <p:spPr>
          <a:xfrm>
            <a:off x="8732520" y="5486400"/>
            <a:ext cx="1920240" cy="0"/>
          </a:xfrm>
          <a:prstGeom prst="line">
            <a:avLst/>
          </a:prstGeom>
          <a:noFill/>
          <a:ln w="25400">
            <a:solidFill>
              <a:schemeClr val="accent4"/>
            </a:solidFill>
            <a:prstDash val="solid"/>
            <a:tailEnd type="triangle"/>
          </a:ln>
        </p:spPr>
      </p:sp>
      <p:sp>
        <p:nvSpPr>
          <p:cNvPr id="28" name="Milestone 4"/>
          <p:cNvSpPr/>
          <p:nvPr/>
        </p:nvSpPr>
        <p:spPr>
          <a:xfrm>
            <a:off x="8229600" y="5120640"/>
            <a:ext cx="731520" cy="731520"/>
          </a:xfrm>
          <a:prstGeom prst="ellipse">
            <a:avLst/>
          </a:prstGeom>
          <a:solidFill>
            <a:schemeClr val="accent5"/>
          </a:solidFill>
          <a:ln w="12700">
            <a:solidFill>
              <a:schemeClr val="accent5"/>
            </a:solidFill>
            <a:prstDash val="solid"/>
          </a:ln>
        </p:spPr>
      </p:sp>
      <p:pic>
        <p:nvPicPr>
          <p:cNvPr id="29" name="Check 4" descr="Completed">    </p:cNvPr>
          <p:cNvPicPr>
            <a:picLocks noChangeAspect="1"/>
          </p:cNvPicPr>
          <p:nvPr/>
        </p:nvPicPr>
        <p:blipFill>
          <a:blip r:embed="rId4"/>
          <a:stretch>
            <a:fillRect/>
          </a:stretch>
        </p:blipFill>
        <p:spPr>
          <a:xfrm>
            <a:off x="8430768" y="5321808"/>
            <a:ext cx="329184" cy="329184"/>
          </a:xfrm>
          <a:prstGeom prst="rect">
            <a:avLst/>
          </a:prstGeom>
        </p:spPr>
      </p:pic>
      <p:sp>
        <p:nvSpPr>
          <p:cNvPr id="30" name="Text 24"/>
          <p:cNvSpPr txBox="1"/>
          <p:nvPr/>
        </p:nvSpPr>
        <p:spPr>
          <a:xfrm>
            <a:off x="7863840" y="5897880"/>
            <a:ext cx="1463040" cy="320040"/>
          </a:xfrm>
          <a:prstGeom prst="rect">
            <a:avLst/>
          </a:prstGeom>
          <a:noFill/>
          <a:ln/>
        </p:spPr>
        <p:txBody>
          <a:bodyPr wrap="square" lIns="0" tIns="0" rIns="0" bIns="0" rtlCol="0" anchor="ctr"/>
          <a:lstStyle/>
          <a:p>
            <a:pPr algn="ctr" indent="0" marL="0">
              <a:buNone/>
            </a:pPr>
            <a:r>
              <a:rPr lang="en-US" sz="1400" dirty="0">
                <a:solidFill>
                  <a:schemeClr val="bg1"/>
                </a:solidFill>
              </a:rPr>
              <a:t>DMA + network</a:t>
            </a:r>
            <a:endParaRPr lang="en-US" sz="1400" dirty="0"/>
          </a:p>
        </p:txBody>
      </p:sp>
      <p:sp>
        <p:nvSpPr>
          <p:cNvPr id="31" name="Milestone 5"/>
          <p:cNvSpPr/>
          <p:nvPr/>
        </p:nvSpPr>
        <p:spPr>
          <a:xfrm>
            <a:off x="10698480" y="5120640"/>
            <a:ext cx="731520" cy="731520"/>
          </a:xfrm>
          <a:prstGeom prst="ellipse">
            <a:avLst/>
          </a:prstGeom>
          <a:solidFill>
            <a:schemeClr val="accent5"/>
          </a:solidFill>
          <a:ln w="12700">
            <a:solidFill>
              <a:schemeClr val="accent5"/>
            </a:solidFill>
            <a:prstDash val="solid"/>
          </a:ln>
        </p:spPr>
      </p:sp>
      <p:pic>
        <p:nvPicPr>
          <p:cNvPr id="32" name="Check 5" descr="Completed">    </p:cNvPr>
          <p:cNvPicPr>
            <a:picLocks noChangeAspect="1"/>
          </p:cNvPicPr>
          <p:nvPr/>
        </p:nvPicPr>
        <p:blipFill>
          <a:blip r:embed="rId5"/>
          <a:stretch>
            <a:fillRect/>
          </a:stretch>
        </p:blipFill>
        <p:spPr>
          <a:xfrm>
            <a:off x="10899648" y="5321808"/>
            <a:ext cx="329184" cy="329184"/>
          </a:xfrm>
          <a:prstGeom prst="rect">
            <a:avLst/>
          </a:prstGeom>
        </p:spPr>
      </p:pic>
      <p:sp>
        <p:nvSpPr>
          <p:cNvPr id="33" name="Text 26"/>
          <p:cNvSpPr txBox="1"/>
          <p:nvPr/>
        </p:nvSpPr>
        <p:spPr>
          <a:xfrm>
            <a:off x="10332720" y="5897880"/>
            <a:ext cx="1463040" cy="320040"/>
          </a:xfrm>
          <a:prstGeom prst="rect">
            <a:avLst/>
          </a:prstGeom>
          <a:noFill/>
          <a:ln/>
        </p:spPr>
        <p:txBody>
          <a:bodyPr wrap="square" lIns="0" tIns="0" rIns="0" bIns="0" rtlCol="0" anchor="ctr"/>
          <a:lstStyle/>
          <a:p>
            <a:pPr algn="ctr" indent="0" marL="0">
              <a:buNone/>
            </a:pPr>
            <a:r>
              <a:rPr lang="en-US" sz="1400" dirty="0">
                <a:solidFill>
                  <a:schemeClr val="bg1"/>
                </a:solidFill>
              </a:rPr>
              <a:t>Python GUI</a:t>
            </a:r>
            <a:endParaRPr lang="en-US" sz="1400" dirty="0"/>
          </a:p>
        </p:txBody>
      </p:sp>
      <p:sp>
        <p:nvSpPr>
          <p:cNvPr id="34" name="Text 27"/>
          <p:cNvSpPr txBox="1"/>
          <p:nvPr/>
        </p:nvSpPr>
        <p:spPr>
          <a:xfrm>
            <a:off x="548640" y="4617720"/>
            <a:ext cx="5486400" cy="320040"/>
          </a:xfrm>
          <a:prstGeom prst="rect">
            <a:avLst/>
          </a:prstGeom>
          <a:noFill/>
          <a:ln/>
        </p:spPr>
        <p:txBody>
          <a:bodyPr wrap="square" lIns="0" tIns="0" rIns="0" bIns="0" rtlCol="0" anchor="ctr"/>
          <a:lstStyle/>
          <a:p>
            <a:pPr indent="0" marL="0">
              <a:buNone/>
            </a:pPr>
            <a:r>
              <a:rPr lang="en-US" sz="1400" b="1" dirty="0">
                <a:solidFill>
                  <a:schemeClr val="accent4"/>
                </a:solidFill>
              </a:rPr>
              <a:t>Project milestones: all completed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HIL Midnight Teal">
  <a:themeElements>
    <a:clrScheme name="HIL Midnight Teal">
      <a:dk1>
        <a:srgbClr val="0B1F33"/>
      </a:dk1>
      <a:lt1>
        <a:srgbClr val="FFFFFF"/>
      </a:lt1>
      <a:dk2>
        <a:srgbClr val="12304D"/>
      </a:dk2>
      <a:lt2>
        <a:srgbClr val="EAF1F6"/>
      </a:lt2>
      <a:accent1>
        <a:srgbClr val="0E9AA7"/>
      </a:accent1>
      <a:accent2>
        <a:srgbClr val="F5A524"/>
      </a:accent2>
      <a:accent3>
        <a:srgbClr val="3D5A80"/>
      </a:accent3>
      <a:accent4>
        <a:srgbClr val="7FA3C0"/>
      </a:accent4>
      <a:accent5>
        <a:srgbClr val="2E7D6B"/>
      </a:accent5>
      <a:accent6>
        <a:srgbClr val="C8553D"/>
      </a:accent6>
      <a:hlink>
        <a:srgbClr val="0E9AA7"/>
      </a:hlink>
      <a:folHlink>
        <a:srgbClr val="3D5A80"/>
      </a:folHlink>
    </a:clrScheme>
    <a:fontScheme name="HIL Midnight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HIL Simulation of a PMDC Motor on Zynq-7000</dc:title>
  <dc:subject>PptxGenJS Presentation</dc:subject>
  <dc:creator>Akasam Harsha Vardhana Ganesh</dc:creator>
  <cp:lastModifiedBy>Akasam Harsha Vardhana Ganesh</cp:lastModifiedBy>
  <cp:revision>1</cp:revision>
  <dcterms:created xsi:type="dcterms:W3CDTF">2026-10-14T02:12:32Z</dcterms:created>
  <dcterms:modified xsi:type="dcterms:W3CDTF">2026-10-14T02:12:32Z</dcterms:modified>
</cp:coreProperties>
</file>